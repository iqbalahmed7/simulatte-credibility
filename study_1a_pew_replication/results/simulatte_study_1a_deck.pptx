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1280160"/>
            <a:ext cx="54864" cy="3840480"/>
          </a:xfrm>
          <a:prstGeom prst="rect">
            <a:avLst/>
          </a:prstGeom>
          <a:solidFill>
            <a:srgbClr val="A8F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8229600" cy="1508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800" b="1" i="0">
                <a:solidFill>
                  <a:srgbClr val="E9E6DF"/>
                </a:solidFill>
                <a:latin typeface="Arial"/>
              </a:rPr>
              <a:t>STUDY 1A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889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0" i="0">
                <a:solidFill>
                  <a:srgbClr val="5E5E5E"/>
                </a:solidFill>
                <a:latin typeface="Arial"/>
              </a:rPr>
              <a:t>Pew Research Center Replication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520440"/>
            <a:ext cx="548640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0" b="1" i="0">
                <a:solidFill>
                  <a:srgbClr val="A8FF3E"/>
                </a:solidFill>
                <a:latin typeface="Arial"/>
              </a:rPr>
              <a:t>86.1%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736592"/>
            <a:ext cx="64008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5E5E5E"/>
                </a:solidFill>
                <a:latin typeface="Arial"/>
              </a:rPr>
              <a:t>Mean Distribution Accuracy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897880"/>
            <a:ext cx="11064240" cy="127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03504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5E5E5E"/>
                </a:solidFill>
                <a:latin typeface="Arial"/>
              </a:rPr>
              <a:t>Simulatte Credibility Research Program  ·  Sprint B-8  · 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0" y="274320"/>
            <a:ext cx="6400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1" i="0">
                <a:solidFill>
                  <a:srgbClr val="A8FF3E"/>
                </a:solidFill>
                <a:latin typeface="Arial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91440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600" b="1" i="0">
                <a:solidFill>
                  <a:srgbClr val="E9E6DF"/>
                </a:solidFill>
                <a:latin typeface="Arial"/>
              </a:rPr>
              <a:t>Decision Infrastructure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98448"/>
            <a:ext cx="10881360" cy="127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850392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0" i="0">
                <a:solidFill>
                  <a:srgbClr val="E9E6DF"/>
                </a:solidFill>
                <a:latin typeface="Arial"/>
              </a:rPr>
              <a:t>Simulatte generates synthetic personas representing the US general population. When asked real survey questions, they produce answer distributions that match what real Americans say.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429000"/>
            <a:ext cx="85039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0" i="1">
                <a:solidFill>
                  <a:srgbClr val="5E5E5E"/>
                </a:solidFill>
                <a:latin typeface="Arial"/>
              </a:rPr>
              <a:t>Study 1A tests that claim against 15 Pew Research Center questions.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9326880" y="1508760"/>
            <a:ext cx="2468880" cy="265176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0" y="1645920"/>
            <a:ext cx="24688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000" b="1" i="0">
                <a:solidFill>
                  <a:srgbClr val="A8FF3E"/>
                </a:solidFill>
                <a:latin typeface="Arial"/>
              </a:rPr>
              <a:t>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2788920"/>
            <a:ext cx="24688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0" i="0">
                <a:solidFill>
                  <a:srgbClr val="5E5E5E"/>
                </a:solidFill>
                <a:latin typeface="Arial"/>
              </a:rPr>
              <a:t>Pew Questions
under test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0" y="274320"/>
            <a:ext cx="6400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1" i="0">
                <a:solidFill>
                  <a:srgbClr val="A8FF3E"/>
                </a:solidFill>
                <a:latin typeface="Arial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5E5E5E"/>
                </a:solidFill>
                <a:latin typeface="Arial"/>
              </a:rPr>
              <a:t>The Headline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47120" cy="2331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0" b="1" i="0">
                <a:solidFill>
                  <a:srgbClr val="A8FF3E"/>
                </a:solidFill>
                <a:latin typeface="Arial"/>
              </a:rPr>
              <a:t>86.1%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37560"/>
            <a:ext cx="112471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200" b="0" i="0">
                <a:solidFill>
                  <a:srgbClr val="E9E6DF"/>
                </a:solidFill>
                <a:latin typeface="Arial"/>
              </a:rPr>
              <a:t>Mean Distribution Accuracy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4023360"/>
            <a:ext cx="10881360" cy="127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4251960"/>
            <a:ext cx="3291840" cy="18288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19" y="4343400"/>
            <a:ext cx="3108960" cy="109728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/>
            <a:r>
              <a:rPr sz="3400" b="1" i="0">
                <a:solidFill>
                  <a:srgbClr val="E9E6DF"/>
                </a:solidFill>
                <a:latin typeface="Arial"/>
              </a:rPr>
              <a:t>15 questions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19" y="5385816"/>
            <a:ext cx="310896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0" i="0">
                <a:solidFill>
                  <a:srgbClr val="5E5E5E"/>
                </a:solidFill>
                <a:latin typeface="Arial"/>
              </a:rPr>
              <a:t>Pew ATP topics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60" y="4251960"/>
            <a:ext cx="3291840" cy="18288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4343400"/>
            <a:ext cx="3108960" cy="109728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/>
            <a:r>
              <a:rPr sz="3400" b="1" i="0">
                <a:solidFill>
                  <a:srgbClr val="E9E6DF"/>
                </a:solidFill>
                <a:latin typeface="Arial"/>
              </a:rPr>
              <a:t>60 personas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5385816"/>
            <a:ext cx="310896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0" i="0">
                <a:solidFill>
                  <a:srgbClr val="5E5E5E"/>
                </a:solidFill>
                <a:latin typeface="Arial"/>
              </a:rPr>
              <a:t>Synthetic US population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63840" y="4251960"/>
            <a:ext cx="3291840" cy="18288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79" y="4343400"/>
            <a:ext cx="3108960" cy="109728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/>
            <a:r>
              <a:rPr sz="3400" b="1" i="0">
                <a:solidFill>
                  <a:srgbClr val="E9E6DF"/>
                </a:solidFill>
                <a:latin typeface="Arial"/>
              </a:rPr>
              <a:t>900 responses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5385816"/>
            <a:ext cx="310896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0" i="0">
                <a:solidFill>
                  <a:srgbClr val="5E5E5E"/>
                </a:solidFill>
                <a:latin typeface="Arial"/>
              </a:rPr>
              <a:t>Total survey answers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0" y="274320"/>
            <a:ext cx="6400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1" i="0">
                <a:solidFill>
                  <a:srgbClr val="A8FF3E"/>
                </a:solidFill>
                <a:latin typeface="Arial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91440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600" b="1" i="0">
                <a:solidFill>
                  <a:srgbClr val="E9E6DF"/>
                </a:solidFill>
                <a:latin typeface="Arial"/>
              </a:rPr>
              <a:t>Where 86.1% Sits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10881360" cy="127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24688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0" i="0">
                <a:solidFill>
                  <a:srgbClr val="E9E6DF"/>
                </a:solidFill>
                <a:latin typeface="Arial"/>
              </a:rPr>
              <a:t>Human Ceiling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65376"/>
            <a:ext cx="246888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5E5E5E"/>
                </a:solidFill>
                <a:latin typeface="Arial"/>
              </a:rPr>
              <a:t>Stanford self-inconsistency baseline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581912"/>
            <a:ext cx="7772400" cy="4572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91840" y="1581912"/>
            <a:ext cx="7072884" cy="457200"/>
          </a:xfrm>
          <a:prstGeom prst="rect">
            <a:avLst/>
          </a:prstGeom>
          <a:solidFill>
            <a:srgbClr val="E9E6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01884" y="1536192"/>
            <a:ext cx="10972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0" i="0">
                <a:solidFill>
                  <a:srgbClr val="E9E6DF"/>
                </a:solidFill>
                <a:latin typeface="Arial"/>
              </a:rPr>
              <a:t>91.0%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788920"/>
            <a:ext cx="24688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 i="0">
                <a:solidFill>
                  <a:srgbClr val="A8FF3E"/>
                </a:solidFill>
                <a:latin typeface="Arial"/>
              </a:rPr>
              <a:t>Simulatte B-8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191256"/>
            <a:ext cx="246888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5E5E5E"/>
                </a:solidFill>
                <a:latin typeface="Arial"/>
              </a:rPr>
              <a:t>This study, April 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40" y="2907791"/>
            <a:ext cx="7772400" cy="4572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91840" y="2907791"/>
            <a:ext cx="6692036" cy="457200"/>
          </a:xfrm>
          <a:prstGeom prst="rect">
            <a:avLst/>
          </a:prstGeom>
          <a:solidFill>
            <a:srgbClr val="A8F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21036" y="2862072"/>
            <a:ext cx="10972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 i="0">
                <a:solidFill>
                  <a:srgbClr val="A8FF3E"/>
                </a:solidFill>
                <a:latin typeface="Arial"/>
              </a:rPr>
              <a:t>86.1%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114800"/>
            <a:ext cx="24688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0" i="0">
                <a:solidFill>
                  <a:srgbClr val="5E5E5E"/>
                </a:solidFill>
                <a:latin typeface="Arial"/>
              </a:rPr>
              <a:t>Artificial Societies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517136"/>
            <a:ext cx="246888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5E5E5E"/>
                </a:solidFill>
                <a:latin typeface="Arial"/>
              </a:rPr>
              <a:t>Self-reported, Jan 2026, n=1,000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91840" y="4233672"/>
            <a:ext cx="7772400" cy="4572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91840" y="4233672"/>
            <a:ext cx="6684264" cy="457200"/>
          </a:xfrm>
          <a:prstGeom prst="rect">
            <a:avLst/>
          </a:prstGeom>
          <a:solidFill>
            <a:srgbClr val="5E5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13264" y="4187952"/>
            <a:ext cx="10972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0" i="0">
                <a:solidFill>
                  <a:srgbClr val="5E5E5E"/>
                </a:solidFill>
                <a:latin typeface="Arial"/>
              </a:rPr>
              <a:t>86.0%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55080"/>
            <a:ext cx="1088136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1">
                <a:solidFill>
                  <a:srgbClr val="5E5E5E"/>
                </a:solidFill>
                <a:latin typeface="Arial"/>
              </a:rPr>
              <a:t>Artificial Societies benchmark is self-reported against UC Berkeley surveys.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0" y="274320"/>
            <a:ext cx="6400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1" i="0">
                <a:solidFill>
                  <a:srgbClr val="A8FF3E"/>
                </a:solidFill>
                <a:latin typeface="Arial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91440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600" b="1" i="0">
                <a:solidFill>
                  <a:srgbClr val="E9E6DF"/>
                </a:solidFill>
                <a:latin typeface="Arial"/>
              </a:rPr>
              <a:t>How We Measure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10881360" cy="127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881360" cy="155448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8760"/>
            <a:ext cx="10607040" cy="1463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200" b="1" i="0">
                <a:solidFill>
                  <a:srgbClr val="A8FF3E"/>
                </a:solidFill>
                <a:latin typeface="Courier New"/>
              </a:rPr>
              <a:t>1 − Σ|realᵢ − simᵢ| /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291840"/>
            <a:ext cx="101498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0" i="0">
                <a:solidFill>
                  <a:srgbClr val="E9E6DF"/>
                </a:solidFill>
                <a:latin typeface="Arial"/>
              </a:rPr>
              <a:t>—  100%  =  perfect match with Pew distribution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041648"/>
            <a:ext cx="101498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0" i="0">
                <a:solidFill>
                  <a:srgbClr val="E9E6DF"/>
                </a:solidFill>
                <a:latin typeface="Arial"/>
              </a:rPr>
              <a:t>—  0%  =  complete inversion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791456"/>
            <a:ext cx="101498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0" i="0">
                <a:solidFill>
                  <a:srgbClr val="E9E6DF"/>
                </a:solidFill>
                <a:latin typeface="Arial"/>
              </a:rPr>
              <a:t>—  Identical formula to Artificial Societies Jan 2026 white paper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0" y="274320"/>
            <a:ext cx="6400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1" i="0">
                <a:solidFill>
                  <a:srgbClr val="A8FF3E"/>
                </a:solidFill>
                <a:latin typeface="Arial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600" b="1" i="0">
                <a:solidFill>
                  <a:srgbClr val="E9E6DF"/>
                </a:solidFill>
                <a:latin typeface="Arial"/>
              </a:rPr>
              <a:t>All 15 Questions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881360" cy="127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261872"/>
            <a:ext cx="3566160" cy="850392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1316736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5E5E5E"/>
                </a:solidFill>
                <a:latin typeface="Courier New"/>
              </a:rPr>
              <a:t>q01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1591055"/>
            <a:ext cx="2032711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9E6DF"/>
                </a:solidFill>
                <a:latin typeface="Arial"/>
              </a:rPr>
              <a:t>Economy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71292" y="1335024"/>
            <a:ext cx="139080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2800" b="1" i="0">
                <a:solidFill>
                  <a:srgbClr val="E9E6DF"/>
                </a:solidFill>
                <a:latin typeface="Arial"/>
              </a:rPr>
              <a:t>90.5%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88536" y="1261872"/>
            <a:ext cx="3566160" cy="850392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98264" y="1316736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5E5E5E"/>
                </a:solidFill>
                <a:latin typeface="Courier New"/>
              </a:rPr>
              <a:t>q02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98264" y="1591055"/>
            <a:ext cx="2032711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9E6DF"/>
                </a:solidFill>
                <a:latin typeface="Arial"/>
              </a:rPr>
              <a:t>Direction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6908" y="1335024"/>
            <a:ext cx="139080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2800" b="1" i="0">
                <a:solidFill>
                  <a:srgbClr val="A8FF3E"/>
                </a:solidFill>
                <a:latin typeface="Arial"/>
              </a:rPr>
              <a:t>96.0%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74152" y="1261872"/>
            <a:ext cx="3566160" cy="850392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79" y="1316736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5E5E5E"/>
                </a:solidFill>
                <a:latin typeface="Courier New"/>
              </a:rPr>
              <a:t>q03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1591055"/>
            <a:ext cx="2032711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9E6DF"/>
                </a:solidFill>
                <a:latin typeface="Arial"/>
              </a:rPr>
              <a:t>Guns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42524" y="1335024"/>
            <a:ext cx="139080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2800" b="1" i="0">
                <a:solidFill>
                  <a:srgbClr val="E9E6DF"/>
                </a:solidFill>
                <a:latin typeface="Arial"/>
              </a:rPr>
              <a:t>83.7%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2185415"/>
            <a:ext cx="3566160" cy="850392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" y="2240279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5E5E5E"/>
                </a:solidFill>
                <a:latin typeface="Courier New"/>
              </a:rPr>
              <a:t>q04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" y="2514599"/>
            <a:ext cx="2032711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9E6DF"/>
                </a:solidFill>
                <a:latin typeface="Arial"/>
              </a:rPr>
              <a:t>Immigration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71292" y="2258568"/>
            <a:ext cx="139080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2800" b="1" i="0">
                <a:solidFill>
                  <a:srgbClr val="E9E6DF"/>
                </a:solidFill>
                <a:latin typeface="Arial"/>
              </a:rPr>
              <a:t>84.2%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88536" y="2185415"/>
            <a:ext cx="3566160" cy="850392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98264" y="2240279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5E5E5E"/>
                </a:solidFill>
                <a:latin typeface="Courier New"/>
              </a:rPr>
              <a:t>q05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98264" y="2514599"/>
            <a:ext cx="2032711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9E6DF"/>
                </a:solidFill>
                <a:latin typeface="Arial"/>
              </a:rPr>
              <a:t>Climate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6908" y="2258568"/>
            <a:ext cx="139080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2800" b="1" i="0">
                <a:solidFill>
                  <a:srgbClr val="E9E6DF"/>
                </a:solidFill>
                <a:latin typeface="Arial"/>
              </a:rPr>
              <a:t>87.3%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74152" y="2185415"/>
            <a:ext cx="3566160" cy="850392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83879" y="2240279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5E5E5E"/>
                </a:solidFill>
                <a:latin typeface="Courier New"/>
              </a:rPr>
              <a:t>q06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83879" y="2514599"/>
            <a:ext cx="2032711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9E6DF"/>
                </a:solidFill>
                <a:latin typeface="Arial"/>
              </a:rPr>
              <a:t>Social Trust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42524" y="2258568"/>
            <a:ext cx="139080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2800" b="1" i="0">
                <a:solidFill>
                  <a:srgbClr val="E9E6DF"/>
                </a:solidFill>
                <a:latin typeface="Arial"/>
              </a:rPr>
              <a:t>89.1%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3108960"/>
            <a:ext cx="3566160" cy="850392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2648" y="3163824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5E5E5E"/>
                </a:solidFill>
                <a:latin typeface="Courier New"/>
              </a:rPr>
              <a:t>q07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" y="3438144"/>
            <a:ext cx="2032711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9E6DF"/>
                </a:solidFill>
                <a:latin typeface="Arial"/>
              </a:rPr>
              <a:t>Government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71292" y="3182112"/>
            <a:ext cx="139080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2800" b="1" i="0">
                <a:solidFill>
                  <a:srgbClr val="A8FF3E"/>
                </a:solidFill>
                <a:latin typeface="Arial"/>
              </a:rPr>
              <a:t>98.1%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88536" y="3108960"/>
            <a:ext cx="3566160" cy="850392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98264" y="3163824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5E5E5E"/>
                </a:solidFill>
                <a:latin typeface="Courier New"/>
              </a:rPr>
              <a:t>q08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98264" y="3438144"/>
            <a:ext cx="2032711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9E6DF"/>
                </a:solidFill>
                <a:latin typeface="Arial"/>
              </a:rPr>
              <a:t>Religion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6908" y="3182112"/>
            <a:ext cx="139080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2800" b="1" i="0">
                <a:solidFill>
                  <a:srgbClr val="E9E6DF"/>
                </a:solidFill>
                <a:latin typeface="Arial"/>
              </a:rPr>
              <a:t>88.7%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74152" y="3108960"/>
            <a:ext cx="3566160" cy="850392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83879" y="3163824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5E5E5E"/>
                </a:solidFill>
                <a:latin typeface="Courier New"/>
              </a:rPr>
              <a:t>q09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83879" y="3438144"/>
            <a:ext cx="2032711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9E6DF"/>
                </a:solidFill>
                <a:latin typeface="Arial"/>
              </a:rPr>
              <a:t>Abortion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42524" y="3182112"/>
            <a:ext cx="139080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2800" b="1" i="0">
                <a:solidFill>
                  <a:srgbClr val="E9E6DF"/>
                </a:solidFill>
                <a:latin typeface="Arial"/>
              </a:rPr>
              <a:t>80.4%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" y="4032504"/>
            <a:ext cx="3566160" cy="850392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2648" y="408736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5E5E5E"/>
                </a:solidFill>
                <a:latin typeface="Courier New"/>
              </a:rPr>
              <a:t>q10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2648" y="4361688"/>
            <a:ext cx="2032711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9E6DF"/>
                </a:solidFill>
                <a:latin typeface="Arial"/>
              </a:rPr>
              <a:t>Racial Equality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571292" y="4105656"/>
            <a:ext cx="139080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2800" b="1" i="0">
                <a:solidFill>
                  <a:srgbClr val="E9E6DF"/>
                </a:solidFill>
                <a:latin typeface="Arial"/>
              </a:rPr>
              <a:t>91.1%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288536" y="4032504"/>
            <a:ext cx="3566160" cy="850392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398264" y="408736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5E5E5E"/>
                </a:solidFill>
                <a:latin typeface="Courier New"/>
              </a:rPr>
              <a:t>q11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398264" y="4361688"/>
            <a:ext cx="2032711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9E6DF"/>
                </a:solidFill>
                <a:latin typeface="Arial"/>
              </a:rPr>
              <a:t>Healthcare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56908" y="4105656"/>
            <a:ext cx="139080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2800" b="1" i="0">
                <a:solidFill>
                  <a:srgbClr val="E9E6DF"/>
                </a:solidFill>
                <a:latin typeface="Arial"/>
              </a:rPr>
              <a:t>87.3%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074152" y="4032504"/>
            <a:ext cx="3566160" cy="850392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183879" y="408736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5E5E5E"/>
                </a:solidFill>
                <a:latin typeface="Courier New"/>
              </a:rPr>
              <a:t>q12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183879" y="4361688"/>
            <a:ext cx="2032711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9E6DF"/>
                </a:solidFill>
                <a:latin typeface="Arial"/>
              </a:rPr>
              <a:t>Democracy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142524" y="4105656"/>
            <a:ext cx="139080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2800" b="1" i="0">
                <a:solidFill>
                  <a:srgbClr val="E9E6DF"/>
                </a:solidFill>
                <a:latin typeface="Arial"/>
              </a:rPr>
              <a:t>90.1%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02920" y="4956048"/>
            <a:ext cx="3566160" cy="850392"/>
          </a:xfrm>
          <a:prstGeom prst="rect">
            <a:avLst/>
          </a:prstGeom>
          <a:solidFill>
            <a:srgbClr val="1A0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2648" y="501091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5E5E5E"/>
                </a:solidFill>
                <a:latin typeface="Courier New"/>
              </a:rPr>
              <a:t>q13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12648" y="5285232"/>
            <a:ext cx="2032711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9E6DF"/>
                </a:solidFill>
                <a:latin typeface="Arial"/>
              </a:rPr>
              <a:t>Media Trust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571292" y="5029200"/>
            <a:ext cx="139080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2800" b="1" i="0">
                <a:solidFill>
                  <a:srgbClr val="FF5522"/>
                </a:solidFill>
                <a:latin typeface="Arial"/>
              </a:rPr>
              <a:t>63.7%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12648" y="5568696"/>
            <a:ext cx="3383279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1">
                <a:solidFill>
                  <a:srgbClr val="FF5522"/>
                </a:solidFill>
                <a:latin typeface="Arial"/>
              </a:rPr>
              <a:t>← known gap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288536" y="4956048"/>
            <a:ext cx="3566160" cy="850392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398264" y="501091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5E5E5E"/>
                </a:solidFill>
                <a:latin typeface="Courier New"/>
              </a:rPr>
              <a:t>q14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398264" y="5285232"/>
            <a:ext cx="2032711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9E6DF"/>
                </a:solidFill>
                <a:latin typeface="Arial"/>
              </a:rPr>
              <a:t>AI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356908" y="5029200"/>
            <a:ext cx="139080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2800" b="1" i="0">
                <a:solidFill>
                  <a:srgbClr val="E9E6DF"/>
                </a:solidFill>
                <a:latin typeface="Arial"/>
              </a:rPr>
              <a:t>80.6%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074152" y="4956048"/>
            <a:ext cx="3566160" cy="850392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183879" y="501091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5E5E5E"/>
                </a:solidFill>
                <a:latin typeface="Courier New"/>
              </a:rPr>
              <a:t>q15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183879" y="5285232"/>
            <a:ext cx="2032711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9E6DF"/>
                </a:solidFill>
                <a:latin typeface="Arial"/>
              </a:rPr>
              <a:t>Financial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142524" y="5029200"/>
            <a:ext cx="139080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2800" b="1" i="0">
                <a:solidFill>
                  <a:srgbClr val="E9E6DF"/>
                </a:solidFill>
                <a:latin typeface="Arial"/>
              </a:rPr>
              <a:t>80.7%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02920" y="6382512"/>
            <a:ext cx="11155680" cy="127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40080" y="6464808"/>
            <a:ext cx="45720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A8FF3E"/>
                </a:solidFill>
                <a:latin typeface="Arial"/>
              </a:rPr>
              <a:t>Mean: 86.1%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0" y="274320"/>
            <a:ext cx="6400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1" i="0">
                <a:solidFill>
                  <a:srgbClr val="A8FF3E"/>
                </a:solidFill>
                <a:latin typeface="Arial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91440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600" b="1" i="0">
                <a:solidFill>
                  <a:srgbClr val="E9E6DF"/>
                </a:solidFill>
                <a:latin typeface="Arial"/>
              </a:rPr>
              <a:t>From 67.7% to 86.1%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10881360" cy="127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3863339"/>
            <a:ext cx="10515600" cy="1016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" y="3707891"/>
            <a:ext cx="59436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5E5E5E"/>
                </a:solidFill>
                <a:latin typeface="Arial"/>
              </a:rPr>
              <a:t>70%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3154680"/>
            <a:ext cx="10515600" cy="1016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" y="2999232"/>
            <a:ext cx="59436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5E5E5E"/>
                </a:solidFill>
                <a:latin typeface="Arial"/>
              </a:rPr>
              <a:t>80%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446020"/>
            <a:ext cx="10515600" cy="1016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" y="2290572"/>
            <a:ext cx="59436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5E5E5E"/>
                </a:solidFill>
                <a:latin typeface="Arial"/>
              </a:rPr>
              <a:t>90%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13840" y="4026331"/>
            <a:ext cx="854392" cy="54566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8120" y="4617720"/>
            <a:ext cx="945832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5E5E5E"/>
                </a:solidFill>
                <a:latin typeface="Arial"/>
              </a:rPr>
              <a:t>A-3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2400" y="3660571"/>
            <a:ext cx="1037272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 i="0">
                <a:solidFill>
                  <a:srgbClr val="E9E6DF"/>
                </a:solidFill>
                <a:latin typeface="Arial"/>
              </a:rPr>
              <a:t>67.7%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28291" y="3324758"/>
            <a:ext cx="854392" cy="1247241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82571" y="4617720"/>
            <a:ext cx="945832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5E5E5E"/>
                </a:solidFill>
                <a:latin typeface="Arial"/>
              </a:rPr>
              <a:t>B-1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36851" y="2958998"/>
            <a:ext cx="1037272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 i="0">
                <a:solidFill>
                  <a:srgbClr val="E9E6DF"/>
                </a:solidFill>
                <a:latin typeface="Arial"/>
              </a:rPr>
              <a:t>77.6%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42741" y="3119247"/>
            <a:ext cx="854392" cy="1452752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97021" y="4617720"/>
            <a:ext cx="945832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5E5E5E"/>
                </a:solidFill>
                <a:latin typeface="Arial"/>
              </a:rPr>
              <a:t>B-2/3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51301" y="2753487"/>
            <a:ext cx="1037272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 i="0">
                <a:solidFill>
                  <a:srgbClr val="E9E6DF"/>
                </a:solidFill>
                <a:latin typeface="Arial"/>
              </a:rPr>
              <a:t>80.5%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57191" y="3147593"/>
            <a:ext cx="854392" cy="1424406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11471" y="4617720"/>
            <a:ext cx="945832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5E5E5E"/>
                </a:solidFill>
                <a:latin typeface="Arial"/>
              </a:rPr>
              <a:t>B-4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65751" y="2781833"/>
            <a:ext cx="1037272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 i="0">
                <a:solidFill>
                  <a:srgbClr val="E9E6DF"/>
                </a:solidFill>
                <a:latin typeface="Arial"/>
              </a:rPr>
              <a:t>80.1%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71641" y="2956255"/>
            <a:ext cx="854392" cy="1615744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25921" y="4617720"/>
            <a:ext cx="945832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5E5E5E"/>
                </a:solidFill>
                <a:latin typeface="Arial"/>
              </a:rPr>
              <a:t>B-5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80201" y="2590495"/>
            <a:ext cx="1037272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 i="0">
                <a:solidFill>
                  <a:srgbClr val="E9E6DF"/>
                </a:solidFill>
                <a:latin typeface="Arial"/>
              </a:rPr>
              <a:t>82.8%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586090" y="2821609"/>
            <a:ext cx="854392" cy="175039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40370" y="4617720"/>
            <a:ext cx="945832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5E5E5E"/>
                </a:solidFill>
                <a:latin typeface="Arial"/>
              </a:rPr>
              <a:t>B-6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4650" y="2455849"/>
            <a:ext cx="1037272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 i="0">
                <a:solidFill>
                  <a:srgbClr val="E9E6DF"/>
                </a:solidFill>
                <a:latin typeface="Arial"/>
              </a:rPr>
              <a:t>84.7%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900540" y="2779090"/>
            <a:ext cx="854392" cy="1792909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854820" y="4617720"/>
            <a:ext cx="945832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5E5E5E"/>
                </a:solidFill>
                <a:latin typeface="Arial"/>
              </a:rPr>
              <a:t>B-7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09101" y="2413330"/>
            <a:ext cx="1037272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 i="0">
                <a:solidFill>
                  <a:srgbClr val="E9E6DF"/>
                </a:solidFill>
                <a:latin typeface="Arial"/>
              </a:rPr>
              <a:t>85.3%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214990" y="2722397"/>
            <a:ext cx="854392" cy="1849602"/>
          </a:xfrm>
          <a:prstGeom prst="rect">
            <a:avLst/>
          </a:prstGeom>
          <a:solidFill>
            <a:srgbClr val="A8F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69270" y="4617720"/>
            <a:ext cx="945832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E9E6DF"/>
                </a:solidFill>
                <a:latin typeface="Arial"/>
              </a:rPr>
              <a:t>B-8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23551" y="2356637"/>
            <a:ext cx="1037272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A8FF3E"/>
                </a:solidFill>
                <a:latin typeface="Arial"/>
              </a:rPr>
              <a:t>86.1%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5120640"/>
            <a:ext cx="3840480" cy="77724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" y="5166360"/>
            <a:ext cx="365760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A8FF3E"/>
                </a:solidFill>
                <a:latin typeface="Arial"/>
              </a:rPr>
              <a:t>+18.4pp  total gain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0" y="274320"/>
            <a:ext cx="6400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1" i="0">
                <a:solidFill>
                  <a:srgbClr val="A8FF3E"/>
                </a:solidFill>
                <a:latin typeface="Arial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91440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600" b="1" i="0">
                <a:solidFill>
                  <a:srgbClr val="E9E6DF"/>
                </a:solidFill>
                <a:latin typeface="Arial"/>
              </a:rPr>
              <a:t>What Moved the Needle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10881360" cy="127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10881360" cy="82296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481328"/>
            <a:ext cx="502920" cy="6949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5E5E5E"/>
                </a:solidFill>
                <a:latin typeface="Courier New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44752" y="1481328"/>
            <a:ext cx="6400800" cy="6949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 i="0">
                <a:solidFill>
                  <a:srgbClr val="E9E6DF"/>
                </a:solidFill>
                <a:latin typeface="Arial"/>
              </a:rPr>
              <a:t>Political era isolation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0" y="1481328"/>
            <a:ext cx="1463040" cy="6949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5E5E5E"/>
                </a:solidFill>
                <a:latin typeface="Arial"/>
              </a:rPr>
              <a:t>A-3 → B-1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55480" y="1481328"/>
            <a:ext cx="1828800" cy="6949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2400" b="1" i="0">
                <a:solidFill>
                  <a:srgbClr val="A8FF3E"/>
                </a:solidFill>
                <a:latin typeface="Arial"/>
              </a:rPr>
              <a:t>+9.9pp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331720"/>
            <a:ext cx="10881360" cy="82296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2395727"/>
            <a:ext cx="502920" cy="6949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5E5E5E"/>
                </a:solidFill>
                <a:latin typeface="Courier New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4752" y="2395727"/>
            <a:ext cx="6400800" cy="6949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 i="0">
                <a:solidFill>
                  <a:srgbClr val="E9E6DF"/>
                </a:solidFill>
                <a:latin typeface="Arial"/>
              </a:rPr>
              <a:t>Policy stance differentiation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0" y="2395727"/>
            <a:ext cx="1463040" cy="6949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5E5E5E"/>
                </a:solidFill>
                <a:latin typeface="Arial"/>
              </a:rPr>
              <a:t>B-2/3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55480" y="2395727"/>
            <a:ext cx="1828800" cy="6949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2400" b="1" i="0">
                <a:solidFill>
                  <a:srgbClr val="A8FF3E"/>
                </a:solidFill>
                <a:latin typeface="Arial"/>
              </a:rPr>
              <a:t>+2.9pp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246120"/>
            <a:ext cx="10881360" cy="82296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310127"/>
            <a:ext cx="502920" cy="6949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5E5E5E"/>
                </a:solidFill>
                <a:latin typeface="Courier New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44752" y="3310127"/>
            <a:ext cx="6400800" cy="6949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 i="0">
                <a:solidFill>
                  <a:srgbClr val="E9E6DF"/>
                </a:solidFill>
                <a:latin typeface="Arial"/>
              </a:rPr>
              <a:t>Democracy satisfaction separation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0" y="3310127"/>
            <a:ext cx="1463040" cy="6949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5E5E5E"/>
                </a:solidFill>
                <a:latin typeface="Arial"/>
              </a:rPr>
              <a:t>q12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55480" y="3310127"/>
            <a:ext cx="1828800" cy="6949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2400" b="1" i="0">
                <a:solidFill>
                  <a:srgbClr val="A8FF3E"/>
                </a:solidFill>
                <a:latin typeface="Arial"/>
              </a:rPr>
              <a:t>+17pp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160520"/>
            <a:ext cx="10881360" cy="82296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" y="4224528"/>
            <a:ext cx="502920" cy="6949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5E5E5E"/>
                </a:solidFill>
                <a:latin typeface="Courier New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44752" y="4224528"/>
            <a:ext cx="6400800" cy="6949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 i="0">
                <a:solidFill>
                  <a:srgbClr val="E9E6DF"/>
                </a:solidFill>
                <a:latin typeface="Arial"/>
              </a:rPr>
              <a:t>Income-based financial signal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01000" y="4224528"/>
            <a:ext cx="1463040" cy="6949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5E5E5E"/>
                </a:solidFill>
                <a:latin typeface="Arial"/>
              </a:rPr>
              <a:t>q15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55480" y="4224528"/>
            <a:ext cx="1828800" cy="6949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2400" b="1" i="0">
                <a:solidFill>
                  <a:srgbClr val="A8FF3E"/>
                </a:solidFill>
                <a:latin typeface="Arial"/>
              </a:rPr>
              <a:t>+12pp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5074920"/>
            <a:ext cx="10881360" cy="82296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138928"/>
            <a:ext cx="502920" cy="6949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5E5E5E"/>
                </a:solidFill>
                <a:latin typeface="Courier New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4752" y="5138928"/>
            <a:ext cx="6400800" cy="6949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 i="0">
                <a:solidFill>
                  <a:srgbClr val="E9E6DF"/>
                </a:solidFill>
                <a:latin typeface="Arial"/>
              </a:rPr>
              <a:t>Vocabulary contamination control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1000" y="5138928"/>
            <a:ext cx="1463040" cy="6949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5E5E5E"/>
                </a:solidFill>
                <a:latin typeface="Arial"/>
              </a:rPr>
              <a:t>q03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55480" y="5138928"/>
            <a:ext cx="1828800" cy="6949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2400" b="1" i="0">
                <a:solidFill>
                  <a:srgbClr val="A8FF3E"/>
                </a:solidFill>
                <a:latin typeface="Arial"/>
              </a:rPr>
              <a:t>+2.5pp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0" y="274320"/>
            <a:ext cx="6400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1" i="0">
                <a:solidFill>
                  <a:srgbClr val="A8FF3E"/>
                </a:solidFill>
                <a:latin typeface="Arial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91440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600" b="1" i="0">
                <a:solidFill>
                  <a:srgbClr val="E9E6DF"/>
                </a:solidFill>
                <a:latin typeface="Arial"/>
              </a:rPr>
              <a:t>Political Era Isolation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10881360" cy="127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8686800" cy="1783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0" b="1" i="0">
                <a:solidFill>
                  <a:srgbClr val="A8FF3E"/>
                </a:solidFill>
                <a:latin typeface="Arial"/>
              </a:rPr>
              <a:t>+9.9pp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364992"/>
            <a:ext cx="9601200" cy="1417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0" i="0">
                <a:solidFill>
                  <a:srgbClr val="E9E6DF"/>
                </a:solidFill>
                <a:latin typeface="Arial"/>
              </a:rPr>
              <a:t>Moving era stance to a dedicated CoreMemory field was the single largest gain. Political framing no longer contaminates non-political responses.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9464040" y="1417320"/>
            <a:ext cx="2377440" cy="2286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64040" y="1508760"/>
            <a:ext cx="1170432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0" i="0">
                <a:solidFill>
                  <a:srgbClr val="5E5E5E"/>
                </a:solidFill>
                <a:latin typeface="Arial"/>
              </a:rPr>
              <a:t>A-3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64040" y="1828800"/>
            <a:ext cx="1170432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200" b="1" i="0">
                <a:solidFill>
                  <a:srgbClr val="E9E6DF"/>
                </a:solidFill>
                <a:latin typeface="Arial"/>
              </a:rPr>
              <a:t>67.7%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671048" y="1481328"/>
            <a:ext cx="18288" cy="2157984"/>
          </a:xfrm>
          <a:prstGeom prst="rect">
            <a:avLst/>
          </a:prstGeom>
          <a:solidFill>
            <a:srgbClr val="5E5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16768" y="1508760"/>
            <a:ext cx="109728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0" i="0">
                <a:solidFill>
                  <a:srgbClr val="E9E6DF"/>
                </a:solidFill>
                <a:latin typeface="Arial"/>
              </a:rPr>
              <a:t>B-1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16768" y="1828800"/>
            <a:ext cx="10972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200" b="1" i="0">
                <a:solidFill>
                  <a:srgbClr val="A8FF3E"/>
                </a:solidFill>
                <a:latin typeface="Arial"/>
              </a:rPr>
              <a:t>77.6%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0" y="274320"/>
            <a:ext cx="6400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1" i="0">
                <a:solidFill>
                  <a:srgbClr val="A8FF3E"/>
                </a:solidFill>
                <a:latin typeface="Arial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91440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600" b="1" i="0">
                <a:solidFill>
                  <a:srgbClr val="E9E6DF"/>
                </a:solidFill>
                <a:latin typeface="Arial"/>
              </a:rPr>
              <a:t>The Known Gap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10881360" cy="127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8686800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0" b="1" i="0">
                <a:solidFill>
                  <a:srgbClr val="FF5522"/>
                </a:solidFill>
                <a:latin typeface="Arial"/>
              </a:rPr>
              <a:t>63.7%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9067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0" i="0">
                <a:solidFill>
                  <a:srgbClr val="5E5E5E"/>
                </a:solidFill>
                <a:latin typeface="Arial"/>
              </a:rPr>
              <a:t>q13  —  Media Trust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749039"/>
            <a:ext cx="1005840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0" i="0">
                <a:solidFill>
                  <a:srgbClr val="E9E6DF"/>
                </a:solidFill>
                <a:latin typeface="Arial"/>
              </a:rPr>
              <a:t>Simulatte predicts 77% trust (B) vs Pew’s 40%. Survey re-prompting with media-skeptical framing is the highest-priority fix.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074920"/>
            <a:ext cx="100584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 i="1">
                <a:solidFill>
                  <a:srgbClr val="5E5E5E"/>
                </a:solidFill>
                <a:latin typeface="Arial"/>
              </a:rPr>
              <a:t>Resolving q13 alone would add ~2–3pp to the headline score.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555480" y="1417320"/>
            <a:ext cx="2331720" cy="2286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55480" y="1508760"/>
            <a:ext cx="11430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0" i="0">
                <a:solidFill>
                  <a:srgbClr val="5E5E5E"/>
                </a:solidFill>
                <a:latin typeface="Arial"/>
              </a:rPr>
              <a:t>Pew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55480" y="1828800"/>
            <a:ext cx="11430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3000" b="1" i="0">
                <a:solidFill>
                  <a:srgbClr val="E9E6DF"/>
                </a:solidFill>
                <a:latin typeface="Arial"/>
              </a:rPr>
              <a:t>40%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735056" y="1481328"/>
            <a:ext cx="18288" cy="2157984"/>
          </a:xfrm>
          <a:prstGeom prst="rect">
            <a:avLst/>
          </a:prstGeom>
          <a:solidFill>
            <a:srgbClr val="5E5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71632" y="1508760"/>
            <a:ext cx="109728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0" i="0">
                <a:solidFill>
                  <a:srgbClr val="5E5E5E"/>
                </a:solidFill>
                <a:latin typeface="Arial"/>
              </a:rPr>
              <a:t>Sim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71632" y="1828800"/>
            <a:ext cx="10972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3000" b="1" i="0">
                <a:solidFill>
                  <a:srgbClr val="FF5522"/>
                </a:solidFill>
                <a:latin typeface="Arial"/>
              </a:rPr>
              <a:t>77%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55480" y="2542032"/>
            <a:ext cx="23317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5E5E5E"/>
                </a:solidFill>
                <a:latin typeface="Arial"/>
              </a:rPr>
              <a:t>trust (B)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0" y="274320"/>
            <a:ext cx="6400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1" i="0">
                <a:solidFill>
                  <a:srgbClr val="A8FF3E"/>
                </a:solidFill>
                <a:latin typeface="Arial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91440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600" b="1" i="0">
                <a:solidFill>
                  <a:srgbClr val="E9E6DF"/>
                </a:solidFill>
                <a:latin typeface="Arial"/>
              </a:rPr>
              <a:t>Closing the 4.9pp Gap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10881360" cy="127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10881360" cy="804672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472184"/>
            <a:ext cx="502920" cy="6949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5E5E5E"/>
                </a:solidFill>
                <a:latin typeface="Courier New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44752" y="1472184"/>
            <a:ext cx="6858000" cy="6949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0" i="0">
                <a:solidFill>
                  <a:srgbClr val="E9E6DF"/>
                </a:solidFill>
                <a:latin typeface="Arial"/>
              </a:rPr>
              <a:t>Survey re-prompt for media distrust (q13)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58200" y="1472184"/>
            <a:ext cx="2971800" cy="6949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600" b="1" i="0">
                <a:solidFill>
                  <a:srgbClr val="A8FF3E"/>
                </a:solidFill>
                <a:latin typeface="Arial"/>
              </a:rPr>
              <a:t>expected  +2–3pp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313432"/>
            <a:ext cx="10881360" cy="804672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368296"/>
            <a:ext cx="502920" cy="6949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5E5E5E"/>
                </a:solidFill>
                <a:latin typeface="Courier New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44752" y="2368296"/>
            <a:ext cx="6858000" cy="6949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0" i="0">
                <a:solidFill>
                  <a:srgbClr val="E9E6DF"/>
                </a:solidFill>
                <a:latin typeface="Arial"/>
              </a:rPr>
              <a:t>Pool income restructuring (q15)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2368296"/>
            <a:ext cx="2971800" cy="6949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600" b="1" i="0">
                <a:solidFill>
                  <a:srgbClr val="A8FF3E"/>
                </a:solidFill>
                <a:latin typeface="Arial"/>
              </a:rPr>
              <a:t>expected  +1–2pp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209544"/>
            <a:ext cx="10881360" cy="804672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64408"/>
            <a:ext cx="502920" cy="6949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5E5E5E"/>
                </a:solidFill>
                <a:latin typeface="Courier New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44752" y="3264408"/>
            <a:ext cx="6858000" cy="6949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0" i="0">
                <a:solidFill>
                  <a:srgbClr val="E9E6DF"/>
                </a:solidFill>
                <a:latin typeface="Arial"/>
              </a:rPr>
              <a:t>AI optimism signal for conservatives (q14)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3264408"/>
            <a:ext cx="2971800" cy="6949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600" b="1" i="0">
                <a:solidFill>
                  <a:srgbClr val="A8FF3E"/>
                </a:solidFill>
                <a:latin typeface="Arial"/>
              </a:rPr>
              <a:t>expected  +1pp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105656"/>
            <a:ext cx="10881360" cy="804672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160520"/>
            <a:ext cx="502920" cy="6949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5E5E5E"/>
                </a:solidFill>
                <a:latin typeface="Courier New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44752" y="4160520"/>
            <a:ext cx="6858000" cy="6949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0" i="0">
                <a:solidFill>
                  <a:srgbClr val="E9E6DF"/>
                </a:solidFill>
                <a:latin typeface="Arial"/>
              </a:rPr>
              <a:t>Abortion option A sharpening (q09)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4160520"/>
            <a:ext cx="2971800" cy="6949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600" b="1" i="0">
                <a:solidFill>
                  <a:srgbClr val="A8FF3E"/>
                </a:solidFill>
                <a:latin typeface="Arial"/>
              </a:rPr>
              <a:t>expected  +1pp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5001768"/>
            <a:ext cx="10881360" cy="804672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5056631"/>
            <a:ext cx="502920" cy="6949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5E5E5E"/>
                </a:solidFill>
                <a:latin typeface="Courier New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44752" y="5056631"/>
            <a:ext cx="6858000" cy="6949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0" i="0">
                <a:solidFill>
                  <a:srgbClr val="E9E6DF"/>
                </a:solidFill>
                <a:latin typeface="Arial"/>
              </a:rPr>
              <a:t>Gun permissiveness WorldviewAnchor (q03)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58200" y="5056631"/>
            <a:ext cx="2971800" cy="6949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600" b="1" i="0">
                <a:solidFill>
                  <a:srgbClr val="A8FF3E"/>
                </a:solidFill>
                <a:latin typeface="Arial"/>
              </a:rPr>
              <a:t>expected  +1pp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6035040"/>
            <a:ext cx="10881360" cy="127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6144768"/>
            <a:ext cx="146304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>
                <a:solidFill>
                  <a:srgbClr val="5E5E5E"/>
                </a:solidFill>
                <a:latin typeface="Arial"/>
              </a:rPr>
              <a:t>Target: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94560" y="6144768"/>
            <a:ext cx="640080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A8FF3E"/>
                </a:solidFill>
                <a:latin typeface="Arial"/>
              </a:rPr>
              <a:t>91.0%  (human ceiling)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0" y="274320"/>
            <a:ext cx="6400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1" i="0">
                <a:solidFill>
                  <a:srgbClr val="A8FF3E"/>
                </a:solidFill>
                <a:latin typeface="Arial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91440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600" b="1" i="0">
                <a:solidFill>
                  <a:srgbClr val="E9E6DF"/>
                </a:solidFill>
                <a:latin typeface="Arial"/>
              </a:rPr>
              <a:t>Fully Auditable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10881360" cy="127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508760"/>
            <a:ext cx="10881360" cy="804672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63624"/>
            <a:ext cx="2103120" cy="6949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>
                <a:solidFill>
                  <a:srgbClr val="5E5E5E"/>
                </a:solidFill>
                <a:latin typeface="Arial"/>
              </a:rPr>
              <a:t>Git tag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1563624"/>
            <a:ext cx="8229600" cy="6949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A8FF3E"/>
                </a:solidFill>
                <a:latin typeface="Courier New"/>
              </a:rPr>
              <a:t>study-1a-sprint-b8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468880"/>
            <a:ext cx="10881360" cy="804672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523744"/>
            <a:ext cx="2103120" cy="6949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>
                <a:solidFill>
                  <a:srgbClr val="5E5E5E"/>
                </a:solidFill>
                <a:latin typeface="Arial"/>
              </a:rPr>
              <a:t>Commit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2523744"/>
            <a:ext cx="8229600" cy="6949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E9E6DF"/>
                </a:solidFill>
                <a:latin typeface="Courier New"/>
              </a:rPr>
              <a:t>c9c8de1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429000"/>
            <a:ext cx="10881360" cy="804672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483864"/>
            <a:ext cx="2103120" cy="6949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>
                <a:solidFill>
                  <a:srgbClr val="5E5E5E"/>
                </a:solidFill>
                <a:latin typeface="Arial"/>
              </a:rPr>
              <a:t>Repository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3483864"/>
            <a:ext cx="8229600" cy="6949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E9E6DF"/>
                </a:solidFill>
                <a:latin typeface="Courier New"/>
              </a:rPr>
              <a:t>github.com/Iqbalahmed7/simulatte-persona-generator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572000"/>
            <a:ext cx="108813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0" i="0">
                <a:solidFill>
                  <a:srgbClr val="E9E6DF"/>
                </a:solidFill>
                <a:latin typeface="Arial"/>
              </a:rPr>
              <a:t>Any researcher with Simulatte API access can reproduce this study with a single command.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0" y="274320"/>
            <a:ext cx="6400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1" i="0">
                <a:solidFill>
                  <a:srgbClr val="A8FF3E"/>
                </a:solidFill>
                <a:latin typeface="Arial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91440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600" b="1" i="0">
                <a:solidFill>
                  <a:srgbClr val="E9E6DF"/>
                </a:solidFill>
                <a:latin typeface="Arial"/>
              </a:rPr>
              <a:t>What This Is and Is Not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10881360" cy="127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89888"/>
            <a:ext cx="5166360" cy="438912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08176"/>
            <a:ext cx="13716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 i="0">
                <a:solidFill>
                  <a:srgbClr val="A8FF3E"/>
                </a:solidFill>
                <a:latin typeface="Arial"/>
              </a:rPr>
              <a:t>IS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901952"/>
            <a:ext cx="5166360" cy="77724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956816"/>
            <a:ext cx="4846320" cy="6675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>
                <a:solidFill>
                  <a:srgbClr val="E9E6DF"/>
                </a:solidFill>
                <a:latin typeface="Arial"/>
              </a:rPr>
              <a:t>86.1% mean distribution accuracy on 15 Pew ATP questions at n=60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816352"/>
            <a:ext cx="5166360" cy="77724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871216"/>
            <a:ext cx="4846320" cy="6675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>
                <a:solidFill>
                  <a:srgbClr val="E9E6DF"/>
                </a:solidFill>
                <a:latin typeface="Arial"/>
              </a:rPr>
              <a:t>Exceeds Artificial Societies self-reported benchmark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5080" y="1389888"/>
            <a:ext cx="5166360" cy="438912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1408176"/>
            <a:ext cx="201168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 i="0">
                <a:solidFill>
                  <a:srgbClr val="FF5522"/>
                </a:solidFill>
                <a:latin typeface="Arial"/>
              </a:rPr>
              <a:t>IS NOT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5080" y="1901952"/>
            <a:ext cx="5166360" cy="77724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1956816"/>
            <a:ext cx="4846320" cy="6675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>
                <a:solidFill>
                  <a:srgbClr val="E9E6DF"/>
                </a:solidFill>
                <a:latin typeface="Arial"/>
              </a:rPr>
              <a:t>A claim of causal or predictive validity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5080" y="2816352"/>
            <a:ext cx="5166360" cy="77724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2871216"/>
            <a:ext cx="4846320" cy="6675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>
                <a:solidFill>
                  <a:srgbClr val="E9E6DF"/>
                </a:solidFill>
                <a:latin typeface="Arial"/>
              </a:rPr>
              <a:t>Publication-grade (sampling variance ±3pp at n=60)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5080" y="3730752"/>
            <a:ext cx="5166360" cy="77724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3785615"/>
            <a:ext cx="4846320" cy="6675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>
                <a:solidFill>
                  <a:srgbClr val="E9E6DF"/>
                </a:solidFill>
                <a:latin typeface="Arial"/>
              </a:rPr>
              <a:t>An independent replication of Artificial Societies’ result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A8F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88136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000" b="1" i="0">
                <a:solidFill>
                  <a:srgbClr val="E9E6DF"/>
                </a:solidFill>
                <a:latin typeface="Arial"/>
              </a:rPr>
              <a:t>Simulate reality.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88136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6800" b="1" i="0">
                <a:solidFill>
                  <a:srgbClr val="A8FF3E"/>
                </a:solidFill>
                <a:latin typeface="Arial"/>
              </a:rPr>
              <a:t>Decide better.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251960"/>
            <a:ext cx="1088136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000" b="0" i="0">
                <a:solidFill>
                  <a:srgbClr val="5E5E5E"/>
                </a:solidFill>
                <a:latin typeface="Arial"/>
              </a:rPr>
              <a:t>Simulatte Credibility Research Program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0" y="5029200"/>
            <a:ext cx="7040880" cy="1016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193792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0" i="0">
                <a:solidFill>
                  <a:srgbClr val="5E5E5E"/>
                </a:solidFill>
                <a:latin typeface="Arial"/>
              </a:rPr>
              <a:t>Sprint B-8  ·  April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75704"/>
            <a:ext cx="12188952" cy="82296"/>
          </a:xfrm>
          <a:prstGeom prst="rect">
            <a:avLst/>
          </a:prstGeom>
          <a:solidFill>
            <a:srgbClr val="A8F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