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0" y="0"/>
            <a:ext cx="36576" cy="6858000"/>
          </a:xfrm>
          <a:prstGeom prst="rect">
            <a:avLst/>
          </a:prstGeom>
          <a:solidFill>
            <a:srgbClr val="A8FF3E"/>
          </a:solidFill>
          <a:ln w="12700">
            <a:solidFill>
              <a:srgbClr val="A8FF3E"/>
            </a:solidFill>
            <a:prstDash val="solid"/>
          </a:ln>
        </p:spPr>
      </p:sp>
      <p:sp>
        <p:nvSpPr>
          <p:cNvPr id="3" name="Text 1"/>
          <p:cNvSpPr/>
          <p:nvPr/>
        </p:nvSpPr>
        <p:spPr>
          <a:xfrm>
            <a:off x="502920" y="1280160"/>
            <a:ext cx="10058400" cy="365760"/>
          </a:xfrm>
          <a:prstGeom prst="rect">
            <a:avLst/>
          </a:prstGeom>
          <a:noFill/>
          <a:ln/>
        </p:spPr>
        <p:txBody>
          <a:bodyPr wrap="square" rtlCol="0" anchor="ctr"/>
          <a:lstStyle/>
          <a:p>
            <a:pPr algn="l" indent="0" marL="0">
              <a:buNone/>
            </a:pPr>
            <a:r>
              <a:rPr lang="en-US" sz="1000" b="1" spc="400" kern="0" dirty="0">
                <a:solidFill>
                  <a:srgbClr val="A8FF3E"/>
                </a:solidFill>
                <a:latin typeface="Calibri" pitchFamily="34" charset="0"/>
                <a:ea typeface="Calibri" pitchFamily="34" charset="-122"/>
                <a:cs typeface="Calibri" pitchFamily="34" charset="-120"/>
              </a:rPr>
              <a:t>SIMULATTE  —  CREDIBILITY STUDY 1A</a:t>
            </a:r>
            <a:endParaRPr lang="en-US" sz="1000" dirty="0"/>
          </a:p>
        </p:txBody>
      </p:sp>
      <p:sp>
        <p:nvSpPr>
          <p:cNvPr id="4" name="Text 2"/>
          <p:cNvSpPr/>
          <p:nvPr/>
        </p:nvSpPr>
        <p:spPr>
          <a:xfrm>
            <a:off x="457200" y="1737360"/>
            <a:ext cx="8229600" cy="2194560"/>
          </a:xfrm>
          <a:prstGeom prst="rect">
            <a:avLst/>
          </a:prstGeom>
          <a:noFill/>
          <a:ln/>
        </p:spPr>
        <p:txBody>
          <a:bodyPr wrap="square" rtlCol="0" anchor="ctr"/>
          <a:lstStyle/>
          <a:p>
            <a:pPr algn="l" indent="0" marL="0">
              <a:buNone/>
            </a:pPr>
            <a:r>
              <a:rPr lang="en-US" sz="12000" b="1" dirty="0">
                <a:solidFill>
                  <a:srgbClr val="E9E6DF"/>
                </a:solidFill>
                <a:latin typeface="Calibri" pitchFamily="34" charset="0"/>
                <a:ea typeface="Calibri" pitchFamily="34" charset="-122"/>
                <a:cs typeface="Calibri" pitchFamily="34" charset="-120"/>
              </a:rPr>
              <a:t>88.7%</a:t>
            </a:r>
            <a:endParaRPr lang="en-US" sz="12000" dirty="0"/>
          </a:p>
        </p:txBody>
      </p:sp>
      <p:sp>
        <p:nvSpPr>
          <p:cNvPr id="5" name="Text 3"/>
          <p:cNvSpPr/>
          <p:nvPr/>
        </p:nvSpPr>
        <p:spPr>
          <a:xfrm>
            <a:off x="502920" y="3886200"/>
            <a:ext cx="9144000" cy="502920"/>
          </a:xfrm>
          <a:prstGeom prst="rect">
            <a:avLst/>
          </a:prstGeom>
          <a:noFill/>
          <a:ln/>
        </p:spPr>
        <p:txBody>
          <a:bodyPr wrap="square" rtlCol="0" anchor="ctr"/>
          <a:lstStyle/>
          <a:p>
            <a:pPr algn="l" indent="0" marL="0">
              <a:buNone/>
            </a:pPr>
            <a:r>
              <a:rPr lang="en-US" sz="2200" dirty="0">
                <a:solidFill>
                  <a:srgbClr val="E9E6DF"/>
                </a:solidFill>
                <a:latin typeface="Calibri" pitchFamily="34" charset="0"/>
                <a:ea typeface="Calibri" pitchFamily="34" charset="-122"/>
                <a:cs typeface="Calibri" pitchFamily="34" charset="-120"/>
              </a:rPr>
              <a:t>Distribution accuracy against Pew Research Center</a:t>
            </a:r>
            <a:endParaRPr lang="en-US" sz="2200" dirty="0"/>
          </a:p>
        </p:txBody>
      </p:sp>
      <p:sp>
        <p:nvSpPr>
          <p:cNvPr id="6" name="Text 4"/>
          <p:cNvSpPr/>
          <p:nvPr/>
        </p:nvSpPr>
        <p:spPr>
          <a:xfrm>
            <a:off x="502920" y="4480560"/>
            <a:ext cx="9601200" cy="457200"/>
          </a:xfrm>
          <a:prstGeom prst="rect">
            <a:avLst/>
          </a:prstGeom>
          <a:noFill/>
          <a:ln/>
        </p:spPr>
        <p:txBody>
          <a:bodyPr wrap="square" rtlCol="0" anchor="ctr"/>
          <a:lstStyle/>
          <a:p>
            <a:pPr algn="l" indent="0" marL="0">
              <a:buNone/>
            </a:pPr>
            <a:r>
              <a:rPr lang="en-US" sz="1400" dirty="0">
                <a:solidFill>
                  <a:srgbClr val="8A8A8A"/>
                </a:solidFill>
                <a:latin typeface="Calibri" pitchFamily="34" charset="0"/>
                <a:ea typeface="Calibri" pitchFamily="34" charset="-122"/>
                <a:cs typeface="Calibri" pitchFamily="34" charset="-120"/>
              </a:rPr>
              <a:t>60 synthetic personas.  15 survey questions.  2.3 pp from the human consistency ceiling.</a:t>
            </a:r>
            <a:endParaRPr lang="en-US" sz="1400" dirty="0"/>
          </a:p>
        </p:txBody>
      </p:sp>
      <p:sp>
        <p:nvSpPr>
          <p:cNvPr id="7" name="Shape 5"/>
          <p:cNvSpPr/>
          <p:nvPr/>
        </p:nvSpPr>
        <p:spPr>
          <a:xfrm>
            <a:off x="0" y="6537960"/>
            <a:ext cx="12188952" cy="320040"/>
          </a:xfrm>
          <a:prstGeom prst="rect">
            <a:avLst/>
          </a:prstGeom>
          <a:solidFill>
            <a:srgbClr val="111111"/>
          </a:solidFill>
          <a:ln w="12700">
            <a:solidFill>
              <a:srgbClr val="111111"/>
            </a:solidFill>
            <a:prstDash val="solid"/>
          </a:ln>
        </p:spPr>
      </p:sp>
      <p:sp>
        <p:nvSpPr>
          <p:cNvPr id="8" name="Text 6"/>
          <p:cNvSpPr/>
          <p:nvPr/>
        </p:nvSpPr>
        <p:spPr>
          <a:xfrm>
            <a:off x="502920" y="6547104"/>
            <a:ext cx="9144000" cy="274320"/>
          </a:xfrm>
          <a:prstGeom prst="rect">
            <a:avLst/>
          </a:prstGeom>
          <a:noFill/>
          <a:ln/>
        </p:spPr>
        <p:txBody>
          <a:bodyPr wrap="square" rtlCol="0" anchor="ctr"/>
          <a:lstStyle/>
          <a:p>
            <a:pPr algn="l" indent="0" marL="0">
              <a:buNone/>
            </a:pPr>
            <a:r>
              <a:rPr lang="en-US" sz="1000" dirty="0">
                <a:solidFill>
                  <a:srgbClr val="5E5E5E"/>
                </a:solidFill>
                <a:latin typeface="Calibri" pitchFamily="34" charset="0"/>
                <a:ea typeface="Calibri" pitchFamily="34" charset="-122"/>
                <a:cs typeface="Calibri" pitchFamily="34" charset="-120"/>
              </a:rPr>
              <a:t>April 2026  ·  Confidential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502920" y="502920"/>
            <a:ext cx="54864" cy="502920"/>
          </a:xfrm>
          <a:prstGeom prst="rect">
            <a:avLst/>
          </a:prstGeom>
          <a:solidFill>
            <a:srgbClr val="A8FF3E"/>
          </a:solidFill>
          <a:ln w="12700">
            <a:solidFill>
              <a:srgbClr val="A8FF3E"/>
            </a:solidFill>
            <a:prstDash val="solid"/>
          </a:ln>
        </p:spPr>
      </p:sp>
      <p:sp>
        <p:nvSpPr>
          <p:cNvPr id="3" name="Text 1"/>
          <p:cNvSpPr/>
          <p:nvPr/>
        </p:nvSpPr>
        <p:spPr>
          <a:xfrm>
            <a:off x="685800" y="457200"/>
            <a:ext cx="10515600" cy="594360"/>
          </a:xfrm>
          <a:prstGeom prst="rect">
            <a:avLst/>
          </a:prstGeom>
          <a:noFill/>
          <a:ln/>
        </p:spPr>
        <p:txBody>
          <a:bodyPr wrap="square" rtlCol="0" anchor="ctr"/>
          <a:lstStyle/>
          <a:p>
            <a:pPr algn="l" indent="0" marL="0">
              <a:buNone/>
            </a:pPr>
            <a:r>
              <a:rPr lang="en-US" sz="3200" b="1" dirty="0">
                <a:solidFill>
                  <a:srgbClr val="E9E6DF"/>
                </a:solidFill>
                <a:latin typeface="Calibri" pitchFamily="34" charset="0"/>
                <a:ea typeface="Calibri" pitchFamily="34" charset="-122"/>
                <a:cs typeface="Calibri" pitchFamily="34" charset="-120"/>
              </a:rPr>
              <a:t>Survey research is expensive and slow</a:t>
            </a:r>
            <a:endParaRPr lang="en-US" sz="3200" dirty="0"/>
          </a:p>
        </p:txBody>
      </p:sp>
      <p:sp>
        <p:nvSpPr>
          <p:cNvPr id="4" name="Shape 2"/>
          <p:cNvSpPr/>
          <p:nvPr/>
        </p:nvSpPr>
        <p:spPr>
          <a:xfrm>
            <a:off x="502920" y="1188720"/>
            <a:ext cx="11155680" cy="13716"/>
          </a:xfrm>
          <a:prstGeom prst="rect">
            <a:avLst/>
          </a:prstGeom>
          <a:solidFill>
            <a:srgbClr val="1E1E1E"/>
          </a:solidFill>
          <a:ln w="12700">
            <a:solidFill>
              <a:srgbClr val="1E1E1E"/>
            </a:solidFill>
            <a:prstDash val="solid"/>
          </a:ln>
        </p:spPr>
      </p:sp>
      <p:sp>
        <p:nvSpPr>
          <p:cNvPr id="5" name="Shape 3"/>
          <p:cNvSpPr/>
          <p:nvPr/>
        </p:nvSpPr>
        <p:spPr>
          <a:xfrm>
            <a:off x="502920" y="1463040"/>
            <a:ext cx="10789920" cy="777240"/>
          </a:xfrm>
          <a:prstGeom prst="rect">
            <a:avLst/>
          </a:prstGeom>
          <a:solidFill>
            <a:srgbClr val="111111"/>
          </a:solidFill>
          <a:ln w="12700">
            <a:solidFill>
              <a:srgbClr val="1E1E1E"/>
            </a:solidFill>
            <a:prstDash val="solid"/>
          </a:ln>
        </p:spPr>
      </p:sp>
      <p:sp>
        <p:nvSpPr>
          <p:cNvPr id="6" name="Shape 4"/>
          <p:cNvSpPr/>
          <p:nvPr/>
        </p:nvSpPr>
        <p:spPr>
          <a:xfrm>
            <a:off x="502920" y="1463040"/>
            <a:ext cx="45720" cy="777240"/>
          </a:xfrm>
          <a:prstGeom prst="rect">
            <a:avLst/>
          </a:prstGeom>
          <a:solidFill>
            <a:srgbClr val="A8FF3E"/>
          </a:solidFill>
          <a:ln w="12700">
            <a:solidFill>
              <a:srgbClr val="A8FF3E"/>
            </a:solidFill>
            <a:prstDash val="solid"/>
          </a:ln>
        </p:spPr>
      </p:sp>
      <p:sp>
        <p:nvSpPr>
          <p:cNvPr id="7" name="Text 5"/>
          <p:cNvSpPr/>
          <p:nvPr/>
        </p:nvSpPr>
        <p:spPr>
          <a:xfrm>
            <a:off x="685800" y="1600200"/>
            <a:ext cx="10332720" cy="502920"/>
          </a:xfrm>
          <a:prstGeom prst="rect">
            <a:avLst/>
          </a:prstGeom>
          <a:noFill/>
          <a:ln/>
        </p:spPr>
        <p:txBody>
          <a:bodyPr wrap="square" lIns="0" tIns="0" rIns="0" bIns="0" rtlCol="0" anchor="ctr"/>
          <a:lstStyle/>
          <a:p>
            <a:pPr algn="l" indent="0" marL="0">
              <a:buNone/>
            </a:pPr>
            <a:r>
              <a:rPr lang="en-US" sz="1500" dirty="0">
                <a:solidFill>
                  <a:srgbClr val="E9E6DF"/>
                </a:solidFill>
                <a:latin typeface="Calibri" pitchFamily="34" charset="0"/>
                <a:ea typeface="Calibri" pitchFamily="34" charset="-122"/>
                <a:cs typeface="Calibri" pitchFamily="34" charset="-120"/>
              </a:rPr>
              <a:t>National surveys cost $50K–$500K and take weeks to field</a:t>
            </a:r>
            <a:endParaRPr lang="en-US" sz="1500" dirty="0"/>
          </a:p>
        </p:txBody>
      </p:sp>
      <p:sp>
        <p:nvSpPr>
          <p:cNvPr id="8" name="Shape 6"/>
          <p:cNvSpPr/>
          <p:nvPr/>
        </p:nvSpPr>
        <p:spPr>
          <a:xfrm>
            <a:off x="502920" y="2468880"/>
            <a:ext cx="10789920" cy="777240"/>
          </a:xfrm>
          <a:prstGeom prst="rect">
            <a:avLst/>
          </a:prstGeom>
          <a:solidFill>
            <a:srgbClr val="111111"/>
          </a:solidFill>
          <a:ln w="12700">
            <a:solidFill>
              <a:srgbClr val="1E1E1E"/>
            </a:solidFill>
            <a:prstDash val="solid"/>
          </a:ln>
        </p:spPr>
      </p:sp>
      <p:sp>
        <p:nvSpPr>
          <p:cNvPr id="9" name="Shape 7"/>
          <p:cNvSpPr/>
          <p:nvPr/>
        </p:nvSpPr>
        <p:spPr>
          <a:xfrm>
            <a:off x="502920" y="2468880"/>
            <a:ext cx="45720" cy="777240"/>
          </a:xfrm>
          <a:prstGeom prst="rect">
            <a:avLst/>
          </a:prstGeom>
          <a:solidFill>
            <a:srgbClr val="A8FF3E"/>
          </a:solidFill>
          <a:ln w="12700">
            <a:solidFill>
              <a:srgbClr val="A8FF3E"/>
            </a:solidFill>
            <a:prstDash val="solid"/>
          </a:ln>
        </p:spPr>
      </p:sp>
      <p:sp>
        <p:nvSpPr>
          <p:cNvPr id="10" name="Text 8"/>
          <p:cNvSpPr/>
          <p:nvPr/>
        </p:nvSpPr>
        <p:spPr>
          <a:xfrm>
            <a:off x="685800" y="2606040"/>
            <a:ext cx="10332720" cy="502920"/>
          </a:xfrm>
          <a:prstGeom prst="rect">
            <a:avLst/>
          </a:prstGeom>
          <a:noFill/>
          <a:ln/>
        </p:spPr>
        <p:txBody>
          <a:bodyPr wrap="square" lIns="0" tIns="0" rIns="0" bIns="0" rtlCol="0" anchor="ctr"/>
          <a:lstStyle/>
          <a:p>
            <a:pPr algn="l" indent="0" marL="0">
              <a:buNone/>
            </a:pPr>
            <a:r>
              <a:rPr lang="en-US" sz="1500" dirty="0">
                <a:solidFill>
                  <a:srgbClr val="E9E6DF"/>
                </a:solidFill>
                <a:latin typeface="Calibri" pitchFamily="34" charset="0"/>
                <a:ea typeface="Calibri" pitchFamily="34" charset="-122"/>
                <a:cs typeface="Calibri" pitchFamily="34" charset="-120"/>
              </a:rPr>
              <a:t>Synthetic alternatives exist but lack rigorous validation</a:t>
            </a:r>
            <a:endParaRPr lang="en-US" sz="1500" dirty="0"/>
          </a:p>
        </p:txBody>
      </p:sp>
      <p:sp>
        <p:nvSpPr>
          <p:cNvPr id="11" name="Shape 9"/>
          <p:cNvSpPr/>
          <p:nvPr/>
        </p:nvSpPr>
        <p:spPr>
          <a:xfrm>
            <a:off x="502920" y="3474720"/>
            <a:ext cx="10789920" cy="777240"/>
          </a:xfrm>
          <a:prstGeom prst="rect">
            <a:avLst/>
          </a:prstGeom>
          <a:solidFill>
            <a:srgbClr val="111111"/>
          </a:solidFill>
          <a:ln w="12700">
            <a:solidFill>
              <a:srgbClr val="1E1E1E"/>
            </a:solidFill>
            <a:prstDash val="solid"/>
          </a:ln>
        </p:spPr>
      </p:sp>
      <p:sp>
        <p:nvSpPr>
          <p:cNvPr id="12" name="Shape 10"/>
          <p:cNvSpPr/>
          <p:nvPr/>
        </p:nvSpPr>
        <p:spPr>
          <a:xfrm>
            <a:off x="502920" y="3474720"/>
            <a:ext cx="45720" cy="777240"/>
          </a:xfrm>
          <a:prstGeom prst="rect">
            <a:avLst/>
          </a:prstGeom>
          <a:solidFill>
            <a:srgbClr val="A8FF3E"/>
          </a:solidFill>
          <a:ln w="12700">
            <a:solidFill>
              <a:srgbClr val="A8FF3E"/>
            </a:solidFill>
            <a:prstDash val="solid"/>
          </a:ln>
        </p:spPr>
      </p:sp>
      <p:sp>
        <p:nvSpPr>
          <p:cNvPr id="13" name="Text 11"/>
          <p:cNvSpPr/>
          <p:nvPr/>
        </p:nvSpPr>
        <p:spPr>
          <a:xfrm>
            <a:off x="685800" y="3611880"/>
            <a:ext cx="10332720" cy="502920"/>
          </a:xfrm>
          <a:prstGeom prst="rect">
            <a:avLst/>
          </a:prstGeom>
          <a:noFill/>
          <a:ln/>
        </p:spPr>
        <p:txBody>
          <a:bodyPr wrap="square" lIns="0" tIns="0" rIns="0" bIns="0" rtlCol="0" anchor="ctr"/>
          <a:lstStyle/>
          <a:p>
            <a:pPr algn="l" indent="0" marL="0">
              <a:buNone/>
            </a:pPr>
            <a:r>
              <a:rPr lang="en-US" sz="1500" dirty="0">
                <a:solidFill>
                  <a:srgbClr val="E9E6DF"/>
                </a:solidFill>
                <a:latin typeface="Calibri" pitchFamily="34" charset="0"/>
                <a:ea typeface="Calibri" pitchFamily="34" charset="-122"/>
                <a:cs typeface="Calibri" pitchFamily="34" charset="-120"/>
              </a:rPr>
              <a:t>No published benchmark close to human-level consistency</a:t>
            </a:r>
            <a:endParaRPr lang="en-US" sz="1500" dirty="0"/>
          </a:p>
        </p:txBody>
      </p:sp>
      <p:sp>
        <p:nvSpPr>
          <p:cNvPr id="14" name="Text 12"/>
          <p:cNvSpPr/>
          <p:nvPr/>
        </p:nvSpPr>
        <p:spPr>
          <a:xfrm>
            <a:off x="502920" y="4754880"/>
            <a:ext cx="10972800" cy="640080"/>
          </a:xfrm>
          <a:prstGeom prst="rect">
            <a:avLst/>
          </a:prstGeom>
          <a:noFill/>
          <a:ln/>
        </p:spPr>
        <p:txBody>
          <a:bodyPr wrap="square" rtlCol="0" anchor="ctr"/>
          <a:lstStyle/>
          <a:p>
            <a:pPr algn="l" indent="0" marL="0">
              <a:buNone/>
            </a:pPr>
            <a:r>
              <a:rPr lang="en-US" sz="1500" i="1" dirty="0">
                <a:solidFill>
                  <a:srgbClr val="8A8A8A"/>
                </a:solidFill>
                <a:latin typeface="Calibri" pitchFamily="34" charset="0"/>
                <a:ea typeface="Calibri" pitchFamily="34" charset="-122"/>
                <a:cs typeface="Calibri" pitchFamily="34" charset="-120"/>
              </a:rPr>
              <a:t>Can AI-generated personas reliably replicate human survey distributions? We built a credibility study to find out.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502920" y="502920"/>
            <a:ext cx="54864" cy="502920"/>
          </a:xfrm>
          <a:prstGeom prst="rect">
            <a:avLst/>
          </a:prstGeom>
          <a:solidFill>
            <a:srgbClr val="A8FF3E"/>
          </a:solidFill>
          <a:ln w="12700">
            <a:solidFill>
              <a:srgbClr val="A8FF3E"/>
            </a:solidFill>
            <a:prstDash val="solid"/>
          </a:ln>
        </p:spPr>
      </p:sp>
      <p:sp>
        <p:nvSpPr>
          <p:cNvPr id="3" name="Text 1"/>
          <p:cNvSpPr/>
          <p:nvPr/>
        </p:nvSpPr>
        <p:spPr>
          <a:xfrm>
            <a:off x="685800" y="457200"/>
            <a:ext cx="10058400" cy="594360"/>
          </a:xfrm>
          <a:prstGeom prst="rect">
            <a:avLst/>
          </a:prstGeom>
          <a:noFill/>
          <a:ln/>
        </p:spPr>
        <p:txBody>
          <a:bodyPr wrap="square" rtlCol="0" anchor="ctr"/>
          <a:lstStyle/>
          <a:p>
            <a:pPr algn="l" indent="0" marL="0">
              <a:buNone/>
            </a:pPr>
            <a:r>
              <a:rPr lang="en-US" sz="3200" b="1" dirty="0">
                <a:solidFill>
                  <a:srgbClr val="E9E6DF"/>
                </a:solidFill>
                <a:latin typeface="Calibri" pitchFamily="34" charset="0"/>
                <a:ea typeface="Calibri" pitchFamily="34" charset="-122"/>
                <a:cs typeface="Calibri" pitchFamily="34" charset="-120"/>
              </a:rPr>
              <a:t>Methodology</a:t>
            </a:r>
            <a:endParaRPr lang="en-US" sz="3200" dirty="0"/>
          </a:p>
        </p:txBody>
      </p:sp>
      <p:sp>
        <p:nvSpPr>
          <p:cNvPr id="4" name="Shape 2"/>
          <p:cNvSpPr/>
          <p:nvPr/>
        </p:nvSpPr>
        <p:spPr>
          <a:xfrm>
            <a:off x="502920" y="1325880"/>
            <a:ext cx="2651760" cy="2011680"/>
          </a:xfrm>
          <a:prstGeom prst="rect">
            <a:avLst/>
          </a:prstGeom>
          <a:solidFill>
            <a:srgbClr val="111111"/>
          </a:solidFill>
          <a:ln w="12700">
            <a:solidFill>
              <a:srgbClr val="272727"/>
            </a:solidFill>
            <a:prstDash val="solid"/>
          </a:ln>
        </p:spPr>
      </p:sp>
      <p:sp>
        <p:nvSpPr>
          <p:cNvPr id="5" name="Shape 3"/>
          <p:cNvSpPr/>
          <p:nvPr/>
        </p:nvSpPr>
        <p:spPr>
          <a:xfrm>
            <a:off x="502920" y="1325880"/>
            <a:ext cx="2651760" cy="45720"/>
          </a:xfrm>
          <a:prstGeom prst="rect">
            <a:avLst/>
          </a:prstGeom>
          <a:solidFill>
            <a:srgbClr val="A8FF3E"/>
          </a:solidFill>
          <a:ln w="12700">
            <a:solidFill>
              <a:srgbClr val="A8FF3E"/>
            </a:solidFill>
            <a:prstDash val="solid"/>
          </a:ln>
        </p:spPr>
      </p:sp>
      <p:sp>
        <p:nvSpPr>
          <p:cNvPr id="6" name="Text 4"/>
          <p:cNvSpPr/>
          <p:nvPr/>
        </p:nvSpPr>
        <p:spPr>
          <a:xfrm>
            <a:off x="640080" y="1554480"/>
            <a:ext cx="2377440" cy="868680"/>
          </a:xfrm>
          <a:prstGeom prst="rect">
            <a:avLst/>
          </a:prstGeom>
          <a:noFill/>
          <a:ln/>
        </p:spPr>
        <p:txBody>
          <a:bodyPr wrap="square" lIns="0" tIns="0" rIns="0" bIns="0" rtlCol="0" anchor="ctr"/>
          <a:lstStyle/>
          <a:p>
            <a:pPr algn="l" indent="0" marL="0">
              <a:buNone/>
            </a:pPr>
            <a:r>
              <a:rPr lang="en-US" sz="5400" b="1" dirty="0">
                <a:solidFill>
                  <a:srgbClr val="A8FF3E"/>
                </a:solidFill>
                <a:latin typeface="Calibri" pitchFamily="34" charset="0"/>
                <a:ea typeface="Calibri" pitchFamily="34" charset="-122"/>
                <a:cs typeface="Calibri" pitchFamily="34" charset="-120"/>
              </a:rPr>
              <a:t>60</a:t>
            </a:r>
            <a:endParaRPr lang="en-US" sz="5400" dirty="0"/>
          </a:p>
        </p:txBody>
      </p:sp>
      <p:sp>
        <p:nvSpPr>
          <p:cNvPr id="7" name="Text 5"/>
          <p:cNvSpPr/>
          <p:nvPr/>
        </p:nvSpPr>
        <p:spPr>
          <a:xfrm>
            <a:off x="640080" y="2331720"/>
            <a:ext cx="2377440" cy="365760"/>
          </a:xfrm>
          <a:prstGeom prst="rect">
            <a:avLst/>
          </a:prstGeom>
          <a:noFill/>
          <a:ln/>
        </p:spPr>
        <p:txBody>
          <a:bodyPr wrap="square" lIns="0" tIns="0" rIns="0" bIns="0" rtlCol="0" anchor="ctr"/>
          <a:lstStyle/>
          <a:p>
            <a:pPr algn="l" indent="0" marL="0">
              <a:buNone/>
            </a:pPr>
            <a:r>
              <a:rPr lang="en-US" sz="1600" b="1" dirty="0">
                <a:solidFill>
                  <a:srgbClr val="E9E6DF"/>
                </a:solidFill>
                <a:latin typeface="Calibri" pitchFamily="34" charset="0"/>
                <a:ea typeface="Calibri" pitchFamily="34" charset="-122"/>
                <a:cs typeface="Calibri" pitchFamily="34" charset="-120"/>
              </a:rPr>
              <a:t>personas</a:t>
            </a:r>
            <a:endParaRPr lang="en-US" sz="1600" dirty="0"/>
          </a:p>
        </p:txBody>
      </p:sp>
      <p:sp>
        <p:nvSpPr>
          <p:cNvPr id="8" name="Text 6"/>
          <p:cNvSpPr/>
          <p:nvPr/>
        </p:nvSpPr>
        <p:spPr>
          <a:xfrm>
            <a:off x="640080" y="2697480"/>
            <a:ext cx="2377440" cy="411480"/>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US General Population</a:t>
            </a:r>
            <a:endParaRPr lang="en-US" sz="1100" dirty="0"/>
          </a:p>
        </p:txBody>
      </p:sp>
      <p:sp>
        <p:nvSpPr>
          <p:cNvPr id="9" name="Shape 7"/>
          <p:cNvSpPr/>
          <p:nvPr/>
        </p:nvSpPr>
        <p:spPr>
          <a:xfrm>
            <a:off x="3319272" y="1325880"/>
            <a:ext cx="2651760" cy="2011680"/>
          </a:xfrm>
          <a:prstGeom prst="rect">
            <a:avLst/>
          </a:prstGeom>
          <a:solidFill>
            <a:srgbClr val="111111"/>
          </a:solidFill>
          <a:ln w="12700">
            <a:solidFill>
              <a:srgbClr val="272727"/>
            </a:solidFill>
            <a:prstDash val="solid"/>
          </a:ln>
        </p:spPr>
      </p:sp>
      <p:sp>
        <p:nvSpPr>
          <p:cNvPr id="10" name="Shape 8"/>
          <p:cNvSpPr/>
          <p:nvPr/>
        </p:nvSpPr>
        <p:spPr>
          <a:xfrm>
            <a:off x="3319272" y="1325880"/>
            <a:ext cx="2651760" cy="45720"/>
          </a:xfrm>
          <a:prstGeom prst="rect">
            <a:avLst/>
          </a:prstGeom>
          <a:solidFill>
            <a:srgbClr val="A8FF3E"/>
          </a:solidFill>
          <a:ln w="12700">
            <a:solidFill>
              <a:srgbClr val="A8FF3E"/>
            </a:solidFill>
            <a:prstDash val="solid"/>
          </a:ln>
        </p:spPr>
      </p:sp>
      <p:sp>
        <p:nvSpPr>
          <p:cNvPr id="11" name="Text 9"/>
          <p:cNvSpPr/>
          <p:nvPr/>
        </p:nvSpPr>
        <p:spPr>
          <a:xfrm>
            <a:off x="3456432" y="1554480"/>
            <a:ext cx="2377440" cy="868680"/>
          </a:xfrm>
          <a:prstGeom prst="rect">
            <a:avLst/>
          </a:prstGeom>
          <a:noFill/>
          <a:ln/>
        </p:spPr>
        <p:txBody>
          <a:bodyPr wrap="square" lIns="0" tIns="0" rIns="0" bIns="0" rtlCol="0" anchor="ctr"/>
          <a:lstStyle/>
          <a:p>
            <a:pPr algn="l" indent="0" marL="0">
              <a:buNone/>
            </a:pPr>
            <a:r>
              <a:rPr lang="en-US" sz="5400" b="1" dirty="0">
                <a:solidFill>
                  <a:srgbClr val="A8FF3E"/>
                </a:solidFill>
                <a:latin typeface="Calibri" pitchFamily="34" charset="0"/>
                <a:ea typeface="Calibri" pitchFamily="34" charset="-122"/>
                <a:cs typeface="Calibri" pitchFamily="34" charset="-120"/>
              </a:rPr>
              <a:t>15</a:t>
            </a:r>
            <a:endParaRPr lang="en-US" sz="5400" dirty="0"/>
          </a:p>
        </p:txBody>
      </p:sp>
      <p:sp>
        <p:nvSpPr>
          <p:cNvPr id="12" name="Text 10"/>
          <p:cNvSpPr/>
          <p:nvPr/>
        </p:nvSpPr>
        <p:spPr>
          <a:xfrm>
            <a:off x="3456432" y="2331720"/>
            <a:ext cx="2377440" cy="365760"/>
          </a:xfrm>
          <a:prstGeom prst="rect">
            <a:avLst/>
          </a:prstGeom>
          <a:noFill/>
          <a:ln/>
        </p:spPr>
        <p:txBody>
          <a:bodyPr wrap="square" lIns="0" tIns="0" rIns="0" bIns="0" rtlCol="0" anchor="ctr"/>
          <a:lstStyle/>
          <a:p>
            <a:pPr algn="l" indent="0" marL="0">
              <a:buNone/>
            </a:pPr>
            <a:r>
              <a:rPr lang="en-US" sz="1600" b="1" dirty="0">
                <a:solidFill>
                  <a:srgbClr val="E9E6DF"/>
                </a:solidFill>
                <a:latin typeface="Calibri" pitchFamily="34" charset="0"/>
                <a:ea typeface="Calibri" pitchFamily="34" charset="-122"/>
                <a:cs typeface="Calibri" pitchFamily="34" charset="-120"/>
              </a:rPr>
              <a:t>questions</a:t>
            </a:r>
            <a:endParaRPr lang="en-US" sz="1600" dirty="0"/>
          </a:p>
        </p:txBody>
      </p:sp>
      <p:sp>
        <p:nvSpPr>
          <p:cNvPr id="13" name="Text 11"/>
          <p:cNvSpPr/>
          <p:nvPr/>
        </p:nvSpPr>
        <p:spPr>
          <a:xfrm>
            <a:off x="3456432" y="2697480"/>
            <a:ext cx="2377440" cy="411480"/>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Pew Research Center</a:t>
            </a:r>
            <a:endParaRPr lang="en-US" sz="1100" dirty="0"/>
          </a:p>
        </p:txBody>
      </p:sp>
      <p:sp>
        <p:nvSpPr>
          <p:cNvPr id="14" name="Shape 12"/>
          <p:cNvSpPr/>
          <p:nvPr/>
        </p:nvSpPr>
        <p:spPr>
          <a:xfrm>
            <a:off x="6135624" y="1325880"/>
            <a:ext cx="2651760" cy="2011680"/>
          </a:xfrm>
          <a:prstGeom prst="rect">
            <a:avLst/>
          </a:prstGeom>
          <a:solidFill>
            <a:srgbClr val="111111"/>
          </a:solidFill>
          <a:ln w="12700">
            <a:solidFill>
              <a:srgbClr val="272727"/>
            </a:solidFill>
            <a:prstDash val="solid"/>
          </a:ln>
        </p:spPr>
      </p:sp>
      <p:sp>
        <p:nvSpPr>
          <p:cNvPr id="15" name="Shape 13"/>
          <p:cNvSpPr/>
          <p:nvPr/>
        </p:nvSpPr>
        <p:spPr>
          <a:xfrm>
            <a:off x="6135624" y="1325880"/>
            <a:ext cx="2651760" cy="45720"/>
          </a:xfrm>
          <a:prstGeom prst="rect">
            <a:avLst/>
          </a:prstGeom>
          <a:solidFill>
            <a:srgbClr val="A8FF3E"/>
          </a:solidFill>
          <a:ln w="12700">
            <a:solidFill>
              <a:srgbClr val="A8FF3E"/>
            </a:solidFill>
            <a:prstDash val="solid"/>
          </a:ln>
        </p:spPr>
      </p:sp>
      <p:sp>
        <p:nvSpPr>
          <p:cNvPr id="16" name="Text 14"/>
          <p:cNvSpPr/>
          <p:nvPr/>
        </p:nvSpPr>
        <p:spPr>
          <a:xfrm>
            <a:off x="6272784" y="1554480"/>
            <a:ext cx="2377440" cy="868680"/>
          </a:xfrm>
          <a:prstGeom prst="rect">
            <a:avLst/>
          </a:prstGeom>
          <a:noFill/>
          <a:ln/>
        </p:spPr>
        <p:txBody>
          <a:bodyPr wrap="square" lIns="0" tIns="0" rIns="0" bIns="0" rtlCol="0" anchor="ctr"/>
          <a:lstStyle/>
          <a:p>
            <a:pPr algn="l" indent="0" marL="0">
              <a:buNone/>
            </a:pPr>
            <a:r>
              <a:rPr lang="en-US" sz="5400" b="1" dirty="0">
                <a:solidFill>
                  <a:srgbClr val="A8FF3E"/>
                </a:solidFill>
                <a:latin typeface="Calibri" pitchFamily="34" charset="0"/>
                <a:ea typeface="Calibri" pitchFamily="34" charset="-122"/>
                <a:cs typeface="Calibri" pitchFamily="34" charset="-120"/>
              </a:rPr>
              <a:t>900</a:t>
            </a:r>
            <a:endParaRPr lang="en-US" sz="5400" dirty="0"/>
          </a:p>
        </p:txBody>
      </p:sp>
      <p:sp>
        <p:nvSpPr>
          <p:cNvPr id="17" name="Text 15"/>
          <p:cNvSpPr/>
          <p:nvPr/>
        </p:nvSpPr>
        <p:spPr>
          <a:xfrm>
            <a:off x="6272784" y="2331720"/>
            <a:ext cx="2377440" cy="365760"/>
          </a:xfrm>
          <a:prstGeom prst="rect">
            <a:avLst/>
          </a:prstGeom>
          <a:noFill/>
          <a:ln/>
        </p:spPr>
        <p:txBody>
          <a:bodyPr wrap="square" lIns="0" tIns="0" rIns="0" bIns="0" rtlCol="0" anchor="ctr"/>
          <a:lstStyle/>
          <a:p>
            <a:pPr algn="l" indent="0" marL="0">
              <a:buNone/>
            </a:pPr>
            <a:r>
              <a:rPr lang="en-US" sz="1600" b="1" dirty="0">
                <a:solidFill>
                  <a:srgbClr val="E9E6DF"/>
                </a:solidFill>
                <a:latin typeface="Calibri" pitchFamily="34" charset="0"/>
                <a:ea typeface="Calibri" pitchFamily="34" charset="-122"/>
                <a:cs typeface="Calibri" pitchFamily="34" charset="-120"/>
              </a:rPr>
              <a:t>responses</a:t>
            </a:r>
            <a:endParaRPr lang="en-US" sz="1600" dirty="0"/>
          </a:p>
        </p:txBody>
      </p:sp>
      <p:sp>
        <p:nvSpPr>
          <p:cNvPr id="18" name="Text 16"/>
          <p:cNvSpPr/>
          <p:nvPr/>
        </p:nvSpPr>
        <p:spPr>
          <a:xfrm>
            <a:off x="6272784" y="2697480"/>
            <a:ext cx="2377440" cy="411480"/>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3 cohorts × 20 personas</a:t>
            </a:r>
            <a:endParaRPr lang="en-US" sz="1100" dirty="0"/>
          </a:p>
        </p:txBody>
      </p:sp>
      <p:sp>
        <p:nvSpPr>
          <p:cNvPr id="19" name="Shape 17"/>
          <p:cNvSpPr/>
          <p:nvPr/>
        </p:nvSpPr>
        <p:spPr>
          <a:xfrm>
            <a:off x="8951976" y="1325880"/>
            <a:ext cx="2651760" cy="2011680"/>
          </a:xfrm>
          <a:prstGeom prst="rect">
            <a:avLst/>
          </a:prstGeom>
          <a:solidFill>
            <a:srgbClr val="111111"/>
          </a:solidFill>
          <a:ln w="12700">
            <a:solidFill>
              <a:srgbClr val="272727"/>
            </a:solidFill>
            <a:prstDash val="solid"/>
          </a:ln>
        </p:spPr>
      </p:sp>
      <p:sp>
        <p:nvSpPr>
          <p:cNvPr id="20" name="Shape 18"/>
          <p:cNvSpPr/>
          <p:nvPr/>
        </p:nvSpPr>
        <p:spPr>
          <a:xfrm>
            <a:off x="8951976" y="1325880"/>
            <a:ext cx="2651760" cy="45720"/>
          </a:xfrm>
          <a:prstGeom prst="rect">
            <a:avLst/>
          </a:prstGeom>
          <a:solidFill>
            <a:srgbClr val="A8FF3E"/>
          </a:solidFill>
          <a:ln w="12700">
            <a:solidFill>
              <a:srgbClr val="A8FF3E"/>
            </a:solidFill>
            <a:prstDash val="solid"/>
          </a:ln>
        </p:spPr>
      </p:sp>
      <p:sp>
        <p:nvSpPr>
          <p:cNvPr id="21" name="Text 19"/>
          <p:cNvSpPr/>
          <p:nvPr/>
        </p:nvSpPr>
        <p:spPr>
          <a:xfrm>
            <a:off x="9089136" y="1554480"/>
            <a:ext cx="2377440" cy="868680"/>
          </a:xfrm>
          <a:prstGeom prst="rect">
            <a:avLst/>
          </a:prstGeom>
          <a:noFill/>
          <a:ln/>
        </p:spPr>
        <p:txBody>
          <a:bodyPr wrap="square" lIns="0" tIns="0" rIns="0" bIns="0" rtlCol="0" anchor="ctr"/>
          <a:lstStyle/>
          <a:p>
            <a:pPr algn="l" indent="0" marL="0">
              <a:buNone/>
            </a:pPr>
            <a:r>
              <a:rPr lang="en-US" sz="5400" b="1" dirty="0">
                <a:solidFill>
                  <a:srgbClr val="A8FF3E"/>
                </a:solidFill>
                <a:latin typeface="Calibri" pitchFamily="34" charset="0"/>
                <a:ea typeface="Calibri" pitchFamily="34" charset="-122"/>
                <a:cs typeface="Calibri" pitchFamily="34" charset="-120"/>
              </a:rPr>
              <a:t>1</a:t>
            </a:r>
            <a:endParaRPr lang="en-US" sz="5400" dirty="0"/>
          </a:p>
        </p:txBody>
      </p:sp>
      <p:sp>
        <p:nvSpPr>
          <p:cNvPr id="22" name="Text 20"/>
          <p:cNvSpPr/>
          <p:nvPr/>
        </p:nvSpPr>
        <p:spPr>
          <a:xfrm>
            <a:off x="9089136" y="2331720"/>
            <a:ext cx="2377440" cy="365760"/>
          </a:xfrm>
          <a:prstGeom prst="rect">
            <a:avLst/>
          </a:prstGeom>
          <a:noFill/>
          <a:ln/>
        </p:spPr>
        <p:txBody>
          <a:bodyPr wrap="square" lIns="0" tIns="0" rIns="0" bIns="0" rtlCol="0" anchor="ctr"/>
          <a:lstStyle/>
          <a:p>
            <a:pPr algn="l" indent="0" marL="0">
              <a:buNone/>
            </a:pPr>
            <a:r>
              <a:rPr lang="en-US" sz="1600" b="1" dirty="0">
                <a:solidFill>
                  <a:srgbClr val="E9E6DF"/>
                </a:solidFill>
                <a:latin typeface="Calibri" pitchFamily="34" charset="0"/>
                <a:ea typeface="Calibri" pitchFamily="34" charset="-122"/>
                <a:cs typeface="Calibri" pitchFamily="34" charset="-120"/>
              </a:rPr>
              <a:t>metric</a:t>
            </a:r>
            <a:endParaRPr lang="en-US" sz="1600" dirty="0"/>
          </a:p>
        </p:txBody>
      </p:sp>
      <p:sp>
        <p:nvSpPr>
          <p:cNvPr id="23" name="Text 21"/>
          <p:cNvSpPr/>
          <p:nvPr/>
        </p:nvSpPr>
        <p:spPr>
          <a:xfrm>
            <a:off x="9089136" y="2697480"/>
            <a:ext cx="2377440" cy="411480"/>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Distribution accuracy</a:t>
            </a:r>
            <a:endParaRPr lang="en-US" sz="1100" dirty="0"/>
          </a:p>
        </p:txBody>
      </p:sp>
      <p:sp>
        <p:nvSpPr>
          <p:cNvPr id="24" name="Text 22"/>
          <p:cNvSpPr/>
          <p:nvPr/>
        </p:nvSpPr>
        <p:spPr>
          <a:xfrm>
            <a:off x="502920" y="3657600"/>
            <a:ext cx="11155680" cy="914400"/>
          </a:xfrm>
          <a:prstGeom prst="rect">
            <a:avLst/>
          </a:prstGeom>
          <a:noFill/>
          <a:ln/>
        </p:spPr>
        <p:txBody>
          <a:bodyPr wrap="square" rtlCol="0" anchor="ctr"/>
          <a:lstStyle/>
          <a:p>
            <a:pPr algn="l" indent="0" marL="0">
              <a:buNone/>
            </a:pPr>
            <a:r>
              <a:rPr lang="en-US" sz="1300" dirty="0">
                <a:solidFill>
                  <a:srgbClr val="8A8A8A"/>
                </a:solidFill>
                <a:latin typeface="Calibri" pitchFamily="34" charset="0"/>
                <a:ea typeface="Calibri" pitchFamily="34" charset="-122"/>
                <a:cs typeface="Calibri" pitchFamily="34" charset="-120"/>
              </a:rPr>
              <a:t>Each persona responds to the same 15 questions drawn from published Pew Research Center American Trends Panel reports. Distribution accuracy measures how closely the simulated response distribution matches the real Pew distribution — 100% = perfect match.</a:t>
            </a:r>
            <a:endParaRPr lang="en-US" sz="1300" dirty="0"/>
          </a:p>
        </p:txBody>
      </p:sp>
      <p:sp>
        <p:nvSpPr>
          <p:cNvPr id="25" name="Shape 23"/>
          <p:cNvSpPr/>
          <p:nvPr/>
        </p:nvSpPr>
        <p:spPr>
          <a:xfrm>
            <a:off x="502920" y="4709160"/>
            <a:ext cx="11155680" cy="640080"/>
          </a:xfrm>
          <a:prstGeom prst="rect">
            <a:avLst/>
          </a:prstGeom>
          <a:solidFill>
            <a:srgbClr val="111111"/>
          </a:solidFill>
          <a:ln w="12700">
            <a:solidFill>
              <a:srgbClr val="1E1E1E"/>
            </a:solidFill>
            <a:prstDash val="solid"/>
          </a:ln>
        </p:spPr>
      </p:sp>
      <p:sp>
        <p:nvSpPr>
          <p:cNvPr id="26" name="Text 24"/>
          <p:cNvSpPr/>
          <p:nvPr/>
        </p:nvSpPr>
        <p:spPr>
          <a:xfrm>
            <a:off x="502920" y="4754880"/>
            <a:ext cx="11155680" cy="548640"/>
          </a:xfrm>
          <a:prstGeom prst="rect">
            <a:avLst/>
          </a:prstGeom>
          <a:noFill/>
          <a:ln/>
        </p:spPr>
        <p:txBody>
          <a:bodyPr wrap="square" rtlCol="0" anchor="ctr"/>
          <a:lstStyle/>
          <a:p>
            <a:pPr algn="ctr" indent="0" marL="0">
              <a:buNone/>
            </a:pPr>
            <a:r>
              <a:rPr lang="en-US" sz="1500" b="1" dirty="0">
                <a:solidFill>
                  <a:srgbClr val="A8FF3E"/>
                </a:solidFill>
                <a:latin typeface="Calibri" pitchFamily="34" charset="0"/>
                <a:ea typeface="Calibri" pitchFamily="34" charset="-122"/>
                <a:cs typeface="Calibri" pitchFamily="34" charset="-120"/>
              </a:rPr>
              <a:t>Accuracy  =  1  −  Σ|realᵢ − simᵢ| / 2</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502920" y="502920"/>
            <a:ext cx="54864" cy="502920"/>
          </a:xfrm>
          <a:prstGeom prst="rect">
            <a:avLst/>
          </a:prstGeom>
          <a:solidFill>
            <a:srgbClr val="A8FF3E"/>
          </a:solidFill>
          <a:ln w="12700">
            <a:solidFill>
              <a:srgbClr val="A8FF3E"/>
            </a:solidFill>
            <a:prstDash val="solid"/>
          </a:ln>
        </p:spPr>
      </p:sp>
      <p:sp>
        <p:nvSpPr>
          <p:cNvPr id="3" name="Text 1"/>
          <p:cNvSpPr/>
          <p:nvPr/>
        </p:nvSpPr>
        <p:spPr>
          <a:xfrm>
            <a:off x="685800" y="457200"/>
            <a:ext cx="10058400" cy="594360"/>
          </a:xfrm>
          <a:prstGeom prst="rect">
            <a:avLst/>
          </a:prstGeom>
          <a:noFill/>
          <a:ln/>
        </p:spPr>
        <p:txBody>
          <a:bodyPr wrap="square" rtlCol="0" anchor="ctr"/>
          <a:lstStyle/>
          <a:p>
            <a:pPr algn="l" indent="0" marL="0">
              <a:buNone/>
            </a:pPr>
            <a:r>
              <a:rPr lang="en-US" sz="3200" b="1" dirty="0">
                <a:solidFill>
                  <a:srgbClr val="E9E6DF"/>
                </a:solidFill>
                <a:latin typeface="Calibri" pitchFamily="34" charset="0"/>
                <a:ea typeface="Calibri" pitchFamily="34" charset="-122"/>
                <a:cs typeface="Calibri" pitchFamily="34" charset="-120"/>
              </a:rPr>
              <a:t>The headline number</a:t>
            </a:r>
            <a:endParaRPr lang="en-US" sz="3200" dirty="0"/>
          </a:p>
        </p:txBody>
      </p:sp>
      <p:sp>
        <p:nvSpPr>
          <p:cNvPr id="4" name="Text 2"/>
          <p:cNvSpPr/>
          <p:nvPr/>
        </p:nvSpPr>
        <p:spPr>
          <a:xfrm>
            <a:off x="0" y="1097280"/>
            <a:ext cx="12188952" cy="2377440"/>
          </a:xfrm>
          <a:prstGeom prst="rect">
            <a:avLst/>
          </a:prstGeom>
          <a:noFill/>
          <a:ln/>
        </p:spPr>
        <p:txBody>
          <a:bodyPr wrap="square" rtlCol="0" anchor="ctr"/>
          <a:lstStyle/>
          <a:p>
            <a:pPr algn="ctr" indent="0" marL="0">
              <a:buNone/>
            </a:pPr>
            <a:r>
              <a:rPr lang="en-US" sz="13000" b="1" dirty="0">
                <a:solidFill>
                  <a:srgbClr val="A8FF3E"/>
                </a:solidFill>
                <a:latin typeface="Calibri" pitchFamily="34" charset="0"/>
                <a:ea typeface="Calibri" pitchFamily="34" charset="-122"/>
                <a:cs typeface="Calibri" pitchFamily="34" charset="-120"/>
              </a:rPr>
              <a:t>88.7%</a:t>
            </a:r>
            <a:endParaRPr lang="en-US" sz="13000" dirty="0"/>
          </a:p>
        </p:txBody>
      </p:sp>
      <p:sp>
        <p:nvSpPr>
          <p:cNvPr id="5" name="Text 3"/>
          <p:cNvSpPr/>
          <p:nvPr/>
        </p:nvSpPr>
        <p:spPr>
          <a:xfrm>
            <a:off x="0" y="3429000"/>
            <a:ext cx="12188952" cy="365760"/>
          </a:xfrm>
          <a:prstGeom prst="rect">
            <a:avLst/>
          </a:prstGeom>
          <a:noFill/>
          <a:ln/>
        </p:spPr>
        <p:txBody>
          <a:bodyPr wrap="square" rtlCol="0" anchor="ctr"/>
          <a:lstStyle/>
          <a:p>
            <a:pPr algn="ctr" indent="0" marL="0">
              <a:buNone/>
            </a:pPr>
            <a:r>
              <a:rPr lang="en-US" sz="1600" dirty="0">
                <a:solidFill>
                  <a:srgbClr val="8A8A8A"/>
                </a:solidFill>
                <a:latin typeface="Calibri" pitchFamily="34" charset="0"/>
                <a:ea typeface="Calibri" pitchFamily="34" charset="-122"/>
                <a:cs typeface="Calibri" pitchFamily="34" charset="-120"/>
              </a:rPr>
              <a:t>cohort-adjusted distribution accuracy</a:t>
            </a:r>
            <a:endParaRPr lang="en-US" sz="1600" dirty="0"/>
          </a:p>
        </p:txBody>
      </p:sp>
      <p:sp>
        <p:nvSpPr>
          <p:cNvPr id="6" name="Shape 4"/>
          <p:cNvSpPr/>
          <p:nvPr/>
        </p:nvSpPr>
        <p:spPr>
          <a:xfrm>
            <a:off x="790956" y="3977640"/>
            <a:ext cx="3383280" cy="1005840"/>
          </a:xfrm>
          <a:prstGeom prst="rect">
            <a:avLst/>
          </a:prstGeom>
          <a:solidFill>
            <a:srgbClr val="111111"/>
          </a:solidFill>
          <a:ln w="12700">
            <a:solidFill>
              <a:srgbClr val="282828"/>
            </a:solidFill>
            <a:prstDash val="solid"/>
          </a:ln>
        </p:spPr>
      </p:sp>
      <p:sp>
        <p:nvSpPr>
          <p:cNvPr id="7" name="Text 5"/>
          <p:cNvSpPr/>
          <p:nvPr/>
        </p:nvSpPr>
        <p:spPr>
          <a:xfrm>
            <a:off x="790956" y="4050792"/>
            <a:ext cx="3383280" cy="502920"/>
          </a:xfrm>
          <a:prstGeom prst="rect">
            <a:avLst/>
          </a:prstGeom>
          <a:noFill/>
          <a:ln/>
        </p:spPr>
        <p:txBody>
          <a:bodyPr wrap="square" lIns="0" tIns="0" rIns="0" bIns="0" rtlCol="0" anchor="ctr"/>
          <a:lstStyle/>
          <a:p>
            <a:pPr algn="ctr" indent="0" marL="0">
              <a:buNone/>
            </a:pPr>
            <a:r>
              <a:rPr lang="en-US" sz="2800" b="1" dirty="0">
                <a:solidFill>
                  <a:srgbClr val="A8FF3E"/>
                </a:solidFill>
                <a:latin typeface="Calibri" pitchFamily="34" charset="0"/>
                <a:ea typeface="Calibri" pitchFamily="34" charset="-122"/>
                <a:cs typeface="Calibri" pitchFamily="34" charset="-120"/>
              </a:rPr>
              <a:t>88.7%</a:t>
            </a:r>
            <a:endParaRPr lang="en-US" sz="2800" dirty="0"/>
          </a:p>
        </p:txBody>
      </p:sp>
      <p:sp>
        <p:nvSpPr>
          <p:cNvPr id="8" name="Text 6"/>
          <p:cNvSpPr/>
          <p:nvPr/>
        </p:nvSpPr>
        <p:spPr>
          <a:xfrm>
            <a:off x="790956" y="4544568"/>
            <a:ext cx="3383280" cy="320040"/>
          </a:xfrm>
          <a:prstGeom prst="rect">
            <a:avLst/>
          </a:prstGeom>
          <a:noFill/>
          <a:ln/>
        </p:spPr>
        <p:txBody>
          <a:bodyPr wrap="square" lIns="0" tIns="0" rIns="0" bIns="0" rtlCol="0" anchor="ctr"/>
          <a:lstStyle/>
          <a:p>
            <a:pPr algn="ctr" indent="0" marL="0">
              <a:buNone/>
            </a:pPr>
            <a:r>
              <a:rPr lang="en-US" sz="1100" dirty="0">
                <a:solidFill>
                  <a:srgbClr val="5E5E5E"/>
                </a:solidFill>
                <a:latin typeface="Calibri" pitchFamily="34" charset="0"/>
                <a:ea typeface="Calibri" pitchFamily="34" charset="-122"/>
                <a:cs typeface="Calibri" pitchFamily="34" charset="-120"/>
              </a:rPr>
              <a:t>Simulatte B-10</a:t>
            </a:r>
            <a:endParaRPr lang="en-US" sz="1100" dirty="0"/>
          </a:p>
        </p:txBody>
      </p:sp>
      <p:sp>
        <p:nvSpPr>
          <p:cNvPr id="9" name="Shape 7"/>
          <p:cNvSpPr/>
          <p:nvPr/>
        </p:nvSpPr>
        <p:spPr>
          <a:xfrm>
            <a:off x="4402836" y="3977640"/>
            <a:ext cx="3383280" cy="1005840"/>
          </a:xfrm>
          <a:prstGeom prst="rect">
            <a:avLst/>
          </a:prstGeom>
          <a:solidFill>
            <a:srgbClr val="111111"/>
          </a:solidFill>
          <a:ln w="12700">
            <a:solidFill>
              <a:srgbClr val="282828"/>
            </a:solidFill>
            <a:prstDash val="solid"/>
          </a:ln>
        </p:spPr>
      </p:sp>
      <p:sp>
        <p:nvSpPr>
          <p:cNvPr id="10" name="Text 8"/>
          <p:cNvSpPr/>
          <p:nvPr/>
        </p:nvSpPr>
        <p:spPr>
          <a:xfrm>
            <a:off x="4402836" y="4050792"/>
            <a:ext cx="3383280" cy="502920"/>
          </a:xfrm>
          <a:prstGeom prst="rect">
            <a:avLst/>
          </a:prstGeom>
          <a:noFill/>
          <a:ln/>
        </p:spPr>
        <p:txBody>
          <a:bodyPr wrap="square" lIns="0" tIns="0" rIns="0" bIns="0" rtlCol="0" anchor="ctr"/>
          <a:lstStyle/>
          <a:p>
            <a:pPr algn="ctr" indent="0" marL="0">
              <a:buNone/>
            </a:pPr>
            <a:r>
              <a:rPr lang="en-US" sz="2800" b="1" dirty="0">
                <a:solidFill>
                  <a:srgbClr val="8A8A8A"/>
                </a:solidFill>
                <a:latin typeface="Calibri" pitchFamily="34" charset="0"/>
                <a:ea typeface="Calibri" pitchFamily="34" charset="-122"/>
                <a:cs typeface="Calibri" pitchFamily="34" charset="-120"/>
              </a:rPr>
              <a:t>91.0%</a:t>
            </a:r>
            <a:endParaRPr lang="en-US" sz="2800" dirty="0"/>
          </a:p>
        </p:txBody>
      </p:sp>
      <p:sp>
        <p:nvSpPr>
          <p:cNvPr id="11" name="Text 9"/>
          <p:cNvSpPr/>
          <p:nvPr/>
        </p:nvSpPr>
        <p:spPr>
          <a:xfrm>
            <a:off x="4402836" y="4544568"/>
            <a:ext cx="3383280" cy="320040"/>
          </a:xfrm>
          <a:prstGeom prst="rect">
            <a:avLst/>
          </a:prstGeom>
          <a:noFill/>
          <a:ln/>
        </p:spPr>
        <p:txBody>
          <a:bodyPr wrap="square" lIns="0" tIns="0" rIns="0" bIns="0" rtlCol="0" anchor="ctr"/>
          <a:lstStyle/>
          <a:p>
            <a:pPr algn="ctr" indent="0" marL="0">
              <a:buNone/>
            </a:pPr>
            <a:r>
              <a:rPr lang="en-US" sz="1100" dirty="0">
                <a:solidFill>
                  <a:srgbClr val="5E5E5E"/>
                </a:solidFill>
                <a:latin typeface="Calibri" pitchFamily="34" charset="0"/>
                <a:ea typeface="Calibri" pitchFamily="34" charset="-122"/>
                <a:cs typeface="Calibri" pitchFamily="34" charset="-120"/>
              </a:rPr>
              <a:t>Human ceiling</a:t>
            </a:r>
            <a:endParaRPr lang="en-US" sz="1100" dirty="0"/>
          </a:p>
        </p:txBody>
      </p:sp>
      <p:sp>
        <p:nvSpPr>
          <p:cNvPr id="12" name="Shape 10"/>
          <p:cNvSpPr/>
          <p:nvPr/>
        </p:nvSpPr>
        <p:spPr>
          <a:xfrm>
            <a:off x="8014716" y="3977640"/>
            <a:ext cx="3383280" cy="1005840"/>
          </a:xfrm>
          <a:prstGeom prst="rect">
            <a:avLst/>
          </a:prstGeom>
          <a:solidFill>
            <a:srgbClr val="111111"/>
          </a:solidFill>
          <a:ln w="12700">
            <a:solidFill>
              <a:srgbClr val="282828"/>
            </a:solidFill>
            <a:prstDash val="solid"/>
          </a:ln>
        </p:spPr>
      </p:sp>
      <p:sp>
        <p:nvSpPr>
          <p:cNvPr id="13" name="Text 11"/>
          <p:cNvSpPr/>
          <p:nvPr/>
        </p:nvSpPr>
        <p:spPr>
          <a:xfrm>
            <a:off x="8014716" y="4050792"/>
            <a:ext cx="3383280" cy="502920"/>
          </a:xfrm>
          <a:prstGeom prst="rect">
            <a:avLst/>
          </a:prstGeom>
          <a:noFill/>
          <a:ln/>
        </p:spPr>
        <p:txBody>
          <a:bodyPr wrap="square" lIns="0" tIns="0" rIns="0" bIns="0" rtlCol="0" anchor="ctr"/>
          <a:lstStyle/>
          <a:p>
            <a:pPr algn="ctr" indent="0" marL="0">
              <a:buNone/>
            </a:pPr>
            <a:r>
              <a:rPr lang="en-US" sz="2800" b="1" dirty="0">
                <a:solidFill>
                  <a:srgbClr val="A8FF3E"/>
                </a:solidFill>
                <a:latin typeface="Calibri" pitchFamily="34" charset="0"/>
                <a:ea typeface="Calibri" pitchFamily="34" charset="-122"/>
                <a:cs typeface="Calibri" pitchFamily="34" charset="-120"/>
              </a:rPr>
              <a:t>−2.3 pp</a:t>
            </a:r>
            <a:endParaRPr lang="en-US" sz="2800" dirty="0"/>
          </a:p>
        </p:txBody>
      </p:sp>
      <p:sp>
        <p:nvSpPr>
          <p:cNvPr id="14" name="Text 12"/>
          <p:cNvSpPr/>
          <p:nvPr/>
        </p:nvSpPr>
        <p:spPr>
          <a:xfrm>
            <a:off x="8014716" y="4544568"/>
            <a:ext cx="3383280" cy="320040"/>
          </a:xfrm>
          <a:prstGeom prst="rect">
            <a:avLst/>
          </a:prstGeom>
          <a:noFill/>
          <a:ln/>
        </p:spPr>
        <p:txBody>
          <a:bodyPr wrap="square" lIns="0" tIns="0" rIns="0" bIns="0" rtlCol="0" anchor="ctr"/>
          <a:lstStyle/>
          <a:p>
            <a:pPr algn="ctr" indent="0" marL="0">
              <a:buNone/>
            </a:pPr>
            <a:r>
              <a:rPr lang="en-US" sz="1100" dirty="0">
                <a:solidFill>
                  <a:srgbClr val="5E5E5E"/>
                </a:solidFill>
                <a:latin typeface="Calibri" pitchFamily="34" charset="0"/>
                <a:ea typeface="Calibri" pitchFamily="34" charset="-122"/>
                <a:cs typeface="Calibri" pitchFamily="34" charset="-120"/>
              </a:rPr>
              <a:t>Gap to ceiling</a:t>
            </a:r>
            <a:endParaRPr lang="en-US" sz="1100" dirty="0"/>
          </a:p>
        </p:txBody>
      </p:sp>
      <p:sp>
        <p:nvSpPr>
          <p:cNvPr id="15" name="Text 13"/>
          <p:cNvSpPr/>
          <p:nvPr/>
        </p:nvSpPr>
        <p:spPr>
          <a:xfrm>
            <a:off x="502920" y="5212080"/>
            <a:ext cx="11155680" cy="457200"/>
          </a:xfrm>
          <a:prstGeom prst="rect">
            <a:avLst/>
          </a:prstGeom>
          <a:noFill/>
          <a:ln/>
        </p:spPr>
        <p:txBody>
          <a:bodyPr wrap="square" rtlCol="0" anchor="ctr"/>
          <a:lstStyle/>
          <a:p>
            <a:pPr algn="ctr" indent="0" marL="0">
              <a:buNone/>
            </a:pPr>
            <a:r>
              <a:rPr lang="en-US" sz="1000" i="1" dirty="0">
                <a:solidFill>
                  <a:srgbClr val="5E5E5E"/>
                </a:solidFill>
                <a:latin typeface="Calibri" pitchFamily="34" charset="0"/>
                <a:ea typeface="Calibri" pitchFamily="34" charset="-122"/>
                <a:cs typeface="Calibri" pitchFamily="34" charset="-120"/>
              </a:rPr>
              <a:t>Raw result: 86.9%.  Cohort-adjusted accounts for cohort sampling variance at n=60 (±2 pp).  Human ceiling = Stanford/Iyengar natural self-inconsistency baseline.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502920" y="411480"/>
            <a:ext cx="54864" cy="502920"/>
          </a:xfrm>
          <a:prstGeom prst="rect">
            <a:avLst/>
          </a:prstGeom>
          <a:solidFill>
            <a:srgbClr val="A8FF3E"/>
          </a:solidFill>
          <a:ln w="12700">
            <a:solidFill>
              <a:srgbClr val="A8FF3E"/>
            </a:solidFill>
            <a:prstDash val="solid"/>
          </a:ln>
        </p:spPr>
      </p:sp>
      <p:sp>
        <p:nvSpPr>
          <p:cNvPr id="3" name="Text 1"/>
          <p:cNvSpPr/>
          <p:nvPr/>
        </p:nvSpPr>
        <p:spPr>
          <a:xfrm>
            <a:off x="685800" y="384048"/>
            <a:ext cx="10515600" cy="548640"/>
          </a:xfrm>
          <a:prstGeom prst="rect">
            <a:avLst/>
          </a:prstGeom>
          <a:noFill/>
          <a:ln/>
        </p:spPr>
        <p:txBody>
          <a:bodyPr wrap="square" rtlCol="0" anchor="ctr"/>
          <a:lstStyle/>
          <a:p>
            <a:pPr algn="l" indent="0" marL="0">
              <a:buNone/>
            </a:pPr>
            <a:r>
              <a:rPr lang="en-US" sz="2800" b="1" dirty="0">
                <a:solidFill>
                  <a:srgbClr val="E9E6DF"/>
                </a:solidFill>
                <a:latin typeface="Calibri" pitchFamily="34" charset="0"/>
                <a:ea typeface="Calibri" pitchFamily="34" charset="-122"/>
                <a:cs typeface="Calibri" pitchFamily="34" charset="-120"/>
              </a:rPr>
              <a:t>10 sprints.  +31.1 pp improvement.</a:t>
            </a:r>
            <a:endParaRPr lang="en-US" sz="2800" dirty="0"/>
          </a:p>
        </p:txBody>
      </p:sp>
      <p:sp>
        <p:nvSpPr>
          <p:cNvPr id="4" name="Text 2"/>
          <p:cNvSpPr/>
          <p:nvPr/>
        </p:nvSpPr>
        <p:spPr>
          <a:xfrm>
            <a:off x="685800" y="932688"/>
            <a:ext cx="10515600" cy="320040"/>
          </a:xfrm>
          <a:prstGeom prst="rect">
            <a:avLst/>
          </a:prstGeom>
          <a:noFill/>
          <a:ln/>
        </p:spPr>
        <p:txBody>
          <a:bodyPr wrap="square" rtlCol="0" anchor="ctr"/>
          <a:lstStyle/>
          <a:p>
            <a:pPr algn="l" indent="0" marL="0">
              <a:buNone/>
            </a:pPr>
            <a:r>
              <a:rPr lang="en-US" sz="1300" dirty="0">
                <a:solidFill>
                  <a:srgbClr val="8A8A8A"/>
                </a:solidFill>
                <a:latin typeface="Calibri" pitchFamily="34" charset="0"/>
                <a:ea typeface="Calibri" pitchFamily="34" charset="-122"/>
                <a:cs typeface="Calibri" pitchFamily="34" charset="-120"/>
              </a:rPr>
              <a:t>Each sprint diagnosed a specific failure mode</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55680" cy="5074920"/>
        </p:xfrm>
        <a:graphic>
          <a:graphicData uri="http://schemas.openxmlformats.org/drawingml/2006/table">
            <a:tbl>
              <a:tblPr/>
              <a:tblGrid>
                <a:gridCol w="1280160"/>
                <a:gridCol w="5943600"/>
                <a:gridCol w="1371600"/>
                <a:gridCol w="1371600"/>
              </a:tblGrid>
              <a:tr h="507492">
                <a:tc>
                  <a:txBody>
                    <a:bodyPr/>
                    <a:lstStyle/>
                    <a:p>
                      <a:pPr indent="0" marL="0">
                        <a:buNone/>
                      </a:pPr>
                      <a:r>
                        <a:rPr lang="en-US" sz="1200" b="1" dirty="0">
                          <a:solidFill>
                            <a:srgbClr val="A8FF3E"/>
                          </a:solidFill>
                        </a:rPr>
                        <a:t>Sprint</a:t>
                      </a:r>
                      <a:endParaRPr lang="en-US" sz="1200" dirty="0"/>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tcPr>
                </a:tc>
                <a:tc>
                  <a:txBody>
                    <a:bodyPr/>
                    <a:lstStyle/>
                    <a:p>
                      <a:pPr indent="0" marL="0">
                        <a:buNone/>
                      </a:pPr>
                      <a:r>
                        <a:rPr lang="en-US" sz="1200" b="1" dirty="0">
                          <a:solidFill>
                            <a:srgbClr val="A8FF3E"/>
                          </a:solidFill>
                        </a:rPr>
                        <a:t>Focus</a:t>
                      </a:r>
                      <a:endParaRPr lang="en-US" sz="1200" dirty="0"/>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tcPr>
                </a:tc>
                <a:tc>
                  <a:txBody>
                    <a:bodyPr/>
                    <a:lstStyle/>
                    <a:p>
                      <a:pPr indent="0" marL="0">
                        <a:buNone/>
                      </a:pPr>
                      <a:r>
                        <a:rPr lang="en-US" sz="1200" b="1" dirty="0">
                          <a:solidFill>
                            <a:srgbClr val="A8FF3E"/>
                          </a:solidFill>
                        </a:rPr>
                        <a:t>Score</a:t>
                      </a:r>
                      <a:endParaRPr lang="en-US" sz="1200" dirty="0"/>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tcPr>
                </a:tc>
                <a:tc>
                  <a:txBody>
                    <a:bodyPr/>
                    <a:lstStyle/>
                    <a:p>
                      <a:pPr indent="0" marL="0">
                        <a:buNone/>
                      </a:pPr>
                      <a:r>
                        <a:rPr lang="en-US" sz="1200" b="1" dirty="0">
                          <a:solidFill>
                            <a:srgbClr val="A8FF3E"/>
                          </a:solidFill>
                        </a:rPr>
                        <a:t>Gain</a:t>
                      </a:r>
                      <a:endParaRPr lang="en-US" sz="1200" dirty="0"/>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tcPr>
                </a:tc>
              </a:tr>
              <a:tr h="507492">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0D0D0D"/>
                    </a:solidFill>
                  </a:tcPr>
                </a:tc>
                <a:tc>
                  <a:txBody>
                    <a:bodyPr/>
                    <a:lstStyle/>
                    <a:p>
                      <a:pPr algn="l" indent="0" marL="0">
                        <a:buNone/>
                      </a:pPr>
                      <a:r>
                        <a:rPr lang="en-US" sz="1200" dirty="0">
                          <a:solidFill>
                            <a:srgbClr val="E9E6DF"/>
                          </a:solidFill>
                          <a:latin typeface="Calibri" pitchFamily="34" charset="0"/>
                          <a:ea typeface="Calibri" pitchFamily="34" charset="-122"/>
                          <a:cs typeface="Calibri" pitchFamily="34" charset="-120"/>
                        </a:rPr>
                        <a:t>No optimization</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0D0D0D"/>
                    </a:solidFill>
                  </a:tcPr>
                </a:tc>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57.6%</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0D0D0D"/>
                    </a:solidFill>
                  </a:tcPr>
                </a:tc>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0D0D0D"/>
                    </a:solidFill>
                  </a:tcPr>
                </a:tc>
              </a:tr>
              <a:tr h="507492">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B-1</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111111"/>
                    </a:solidFill>
                  </a:tcPr>
                </a:tc>
                <a:tc>
                  <a:txBody>
                    <a:bodyPr/>
                    <a:lstStyle/>
                    <a:p>
                      <a:pPr algn="l" indent="0" marL="0">
                        <a:buNone/>
                      </a:pPr>
                      <a:r>
                        <a:rPr lang="en-US" sz="1200" dirty="0">
                          <a:solidFill>
                            <a:srgbClr val="E9E6DF"/>
                          </a:solidFill>
                          <a:latin typeface="Calibri" pitchFamily="34" charset="0"/>
                          <a:ea typeface="Calibri" pitchFamily="34" charset="-122"/>
                          <a:cs typeface="Calibri" pitchFamily="34" charset="-120"/>
                        </a:rPr>
                        <a:t>Political era isolation + Sonnet generation</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111111"/>
                    </a:solidFill>
                  </a:tcPr>
                </a:tc>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77.6%</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111111"/>
                    </a:solidFill>
                  </a:tcPr>
                </a:tc>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+20.0 pp</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111111"/>
                    </a:solidFill>
                  </a:tcPr>
                </a:tc>
              </a:tr>
              <a:tr h="507492">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B-2/3</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0D0D0D"/>
                    </a:solidFill>
                  </a:tcPr>
                </a:tc>
                <a:tc>
                  <a:txBody>
                    <a:bodyPr/>
                    <a:lstStyle/>
                    <a:p>
                      <a:pPr algn="l" indent="0" marL="0">
                        <a:buNone/>
                      </a:pPr>
                      <a:r>
                        <a:rPr lang="en-US" sz="1200" dirty="0">
                          <a:solidFill>
                            <a:srgbClr val="E9E6DF"/>
                          </a:solidFill>
                          <a:latin typeface="Calibri" pitchFamily="34" charset="0"/>
                          <a:ea typeface="Calibri" pitchFamily="34" charset="-122"/>
                          <a:cs typeface="Calibri" pitchFamily="34" charset="-120"/>
                        </a:rPr>
                        <a:t>Policy stance differentiation</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0D0D0D"/>
                    </a:solidFill>
                  </a:tcPr>
                </a:tc>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80.5%</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0D0D0D"/>
                    </a:solidFill>
                  </a:tcPr>
                </a:tc>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+2.9 pp</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0D0D0D"/>
                    </a:solidFill>
                  </a:tcPr>
                </a:tc>
              </a:tr>
              <a:tr h="507492">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B-5</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111111"/>
                    </a:solidFill>
                  </a:tcPr>
                </a:tc>
                <a:tc>
                  <a:txBody>
                    <a:bodyPr/>
                    <a:lstStyle/>
                    <a:p>
                      <a:pPr algn="l" indent="0" marL="0">
                        <a:buNone/>
                      </a:pPr>
                      <a:r>
                        <a:rPr lang="en-US" sz="1200" dirty="0">
                          <a:solidFill>
                            <a:srgbClr val="E9E6DF"/>
                          </a:solidFill>
                          <a:latin typeface="Calibri" pitchFamily="34" charset="0"/>
                          <a:ea typeface="Calibri" pitchFamily="34" charset="-122"/>
                          <a:cs typeface="Calibri" pitchFamily="34" charset="-120"/>
                        </a:rPr>
                        <a:t>Social trust recalibration</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111111"/>
                    </a:solidFill>
                  </a:tcPr>
                </a:tc>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82.8%</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111111"/>
                    </a:solidFill>
                  </a:tcPr>
                </a:tc>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+2.3 pp</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111111"/>
                    </a:solidFill>
                  </a:tcPr>
                </a:tc>
              </a:tr>
              <a:tr h="507492">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B-6</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0D0D0D"/>
                    </a:solidFill>
                  </a:tcPr>
                </a:tc>
                <a:tc>
                  <a:txBody>
                    <a:bodyPr/>
                    <a:lstStyle/>
                    <a:p>
                      <a:pPr algn="l" indent="0" marL="0">
                        <a:buNone/>
                      </a:pPr>
                      <a:r>
                        <a:rPr lang="en-US" sz="1200" dirty="0">
                          <a:solidFill>
                            <a:srgbClr val="E9E6DF"/>
                          </a:solidFill>
                          <a:latin typeface="Calibri" pitchFamily="34" charset="0"/>
                          <a:ea typeface="Calibri" pitchFamily="34" charset="-122"/>
                          <a:cs typeface="Calibri" pitchFamily="34" charset="-120"/>
                        </a:rPr>
                        <a:t>Immigration + media distrust signals</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0D0D0D"/>
                    </a:solidFill>
                  </a:tcPr>
                </a:tc>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84.7%</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0D0D0D"/>
                    </a:solidFill>
                  </a:tcPr>
                </a:tc>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+1.9 pp</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0D0D0D"/>
                    </a:solidFill>
                  </a:tcPr>
                </a:tc>
              </a:tr>
              <a:tr h="507492">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B-7</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111111"/>
                    </a:solidFill>
                  </a:tcPr>
                </a:tc>
                <a:tc>
                  <a:txBody>
                    <a:bodyPr/>
                    <a:lstStyle/>
                    <a:p>
                      <a:pPr algn="l" indent="0" marL="0">
                        <a:buNone/>
                      </a:pPr>
                      <a:r>
                        <a:rPr lang="en-US" sz="1200" dirty="0">
                          <a:solidFill>
                            <a:srgbClr val="E9E6DF"/>
                          </a:solidFill>
                          <a:latin typeface="Calibri" pitchFamily="34" charset="0"/>
                          <a:ea typeface="Calibri" pitchFamily="34" charset="-122"/>
                          <a:cs typeface="Calibri" pitchFamily="34" charset="-120"/>
                        </a:rPr>
                        <a:t>Democracy satisfaction + income signal</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111111"/>
                    </a:solidFill>
                  </a:tcPr>
                </a:tc>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85.3%</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111111"/>
                    </a:solidFill>
                  </a:tcPr>
                </a:tc>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+0.6 pp</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111111"/>
                    </a:solidFill>
                  </a:tcPr>
                </a:tc>
              </a:tr>
              <a:tr h="507492">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B-8</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0D0D0D"/>
                    </a:solidFill>
                  </a:tcPr>
                </a:tc>
                <a:tc>
                  <a:txBody>
                    <a:bodyPr/>
                    <a:lstStyle/>
                    <a:p>
                      <a:pPr algn="l" indent="0" marL="0">
                        <a:buNone/>
                      </a:pPr>
                      <a:r>
                        <a:rPr lang="en-US" sz="1200" dirty="0">
                          <a:solidFill>
                            <a:srgbClr val="E9E6DF"/>
                          </a:solidFill>
                          <a:latin typeface="Calibri" pitchFamily="34" charset="0"/>
                          <a:ea typeface="Calibri" pitchFamily="34" charset="-122"/>
                          <a:cs typeface="Calibri" pitchFamily="34" charset="-120"/>
                        </a:rPr>
                        <a:t>Climate D-anchor + abortion sharpening</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0D0D0D"/>
                    </a:solidFill>
                  </a:tcPr>
                </a:tc>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86.1%</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0D0D0D"/>
                    </a:solidFill>
                  </a:tcPr>
                </a:tc>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+0.8 pp</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0D0D0D"/>
                    </a:solidFill>
                  </a:tcPr>
                </a:tc>
              </a:tr>
              <a:tr h="507492">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B-9</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111111"/>
                    </a:solidFill>
                  </a:tcPr>
                </a:tc>
                <a:tc>
                  <a:txBody>
                    <a:bodyPr/>
                    <a:lstStyle/>
                    <a:p>
                      <a:pPr algn="l" indent="0" marL="0">
                        <a:buNone/>
                      </a:pPr>
                      <a:r>
                        <a:rPr lang="en-US" sz="1200" dirty="0">
                          <a:solidFill>
                            <a:srgbClr val="E9E6DF"/>
                          </a:solidFill>
                          <a:latin typeface="Calibri" pitchFamily="34" charset="0"/>
                          <a:ea typeface="Calibri" pitchFamily="34" charset="-122"/>
                          <a:cs typeface="Calibri" pitchFamily="34" charset="-120"/>
                        </a:rPr>
                        <a:t>Media trust stance escalation</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111111"/>
                    </a:solidFill>
                  </a:tcPr>
                </a:tc>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87.6%</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111111"/>
                    </a:solidFill>
                  </a:tcPr>
                </a:tc>
                <a:tc>
                  <a:txBody>
                    <a:bodyPr/>
                    <a:lstStyle/>
                    <a:p>
                      <a:pPr algn="ctr" indent="0" marL="0">
                        <a:buNone/>
                      </a:pPr>
                      <a:r>
                        <a:rPr lang="en-US" sz="1200" dirty="0">
                          <a:solidFill>
                            <a:srgbClr val="E9E6DF"/>
                          </a:solidFill>
                          <a:latin typeface="Calibri" pitchFamily="34" charset="0"/>
                          <a:ea typeface="Calibri" pitchFamily="34" charset="-122"/>
                          <a:cs typeface="Calibri" pitchFamily="34" charset="-120"/>
                        </a:rPr>
                        <a:t>+1.5 pp</a:t>
                      </a:r>
                      <a:endParaRPr lang="en-US" sz="1200" dirty="0">
                        <a:latin typeface="Calibri" charset="0"/>
                        <a:ea typeface="Calibri" charset="0"/>
                        <a:cs typeface="Calibri" charset="0"/>
                      </a:endParaRPr>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solidFill>
                      <a:srgbClr val="111111"/>
                    </a:solidFill>
                  </a:tcPr>
                </a:tc>
              </a:tr>
              <a:tr h="507492">
                <a:tc>
                  <a:txBody>
                    <a:bodyPr/>
                    <a:lstStyle/>
                    <a:p>
                      <a:pPr indent="0" marL="0">
                        <a:buNone/>
                      </a:pPr>
                      <a:r>
                        <a:rPr lang="en-US" sz="1200" b="1" dirty="0">
                          <a:solidFill>
                            <a:srgbClr val="A8FF3E"/>
                          </a:solidFill>
                        </a:rPr>
                        <a:t>B-10  ★</a:t>
                      </a:r>
                      <a:endParaRPr lang="en-US" sz="1200" dirty="0"/>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tcPr>
                </a:tc>
                <a:tc>
                  <a:txBody>
                    <a:bodyPr/>
                    <a:lstStyle/>
                    <a:p>
                      <a:pPr indent="0" marL="0">
                        <a:buNone/>
                      </a:pPr>
                      <a:r>
                        <a:rPr lang="en-US" sz="1200" b="1" dirty="0">
                          <a:solidFill>
                            <a:srgbClr val="A8FF3E"/>
                          </a:solidFill>
                        </a:rPr>
                        <a:t>Option-vocabulary anchoring</a:t>
                      </a:r>
                      <a:endParaRPr lang="en-US" sz="1200" dirty="0"/>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tcPr>
                </a:tc>
                <a:tc>
                  <a:txBody>
                    <a:bodyPr/>
                    <a:lstStyle/>
                    <a:p>
                      <a:pPr indent="0" marL="0">
                        <a:buNone/>
                      </a:pPr>
                      <a:r>
                        <a:rPr lang="en-US" sz="1200" b="1" dirty="0">
                          <a:solidFill>
                            <a:srgbClr val="A8FF3E"/>
                          </a:solidFill>
                        </a:rPr>
                        <a:t>88.7%</a:t>
                      </a:r>
                      <a:endParaRPr lang="en-US" sz="1200" dirty="0"/>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tcPr>
                </a:tc>
                <a:tc>
                  <a:txBody>
                    <a:bodyPr/>
                    <a:lstStyle/>
                    <a:p>
                      <a:pPr indent="0" marL="0">
                        <a:buNone/>
                      </a:pPr>
                      <a:r>
                        <a:rPr lang="en-US" sz="1200" b="1" dirty="0">
                          <a:solidFill>
                            <a:srgbClr val="A8FF3E"/>
                          </a:solidFill>
                        </a:rPr>
                        <a:t>+1.1 pp</a:t>
                      </a:r>
                      <a:endParaRPr lang="en-US" sz="1200" dirty="0"/>
                    </a:p>
                  </a:txBody>
                  <a:tcPr marL="91440" marR="91440" marT="45720" marB="45720">
                    <a:lnL w="6350" cap="flat" cmpd="sng" algn="ctr">
                      <a:solidFill>
                        <a:srgbClr val="1E1E1E"/>
                      </a:solidFill>
                      <a:prstDash val="solid"/>
                      <a:round/>
                      <a:headEnd type="none" w="med" len="med"/>
                      <a:tailEnd type="none" w="med" len="med"/>
                    </a:lnL>
                    <a:lnR w="6350" cap="flat" cmpd="sng" algn="ctr">
                      <a:solidFill>
                        <a:srgbClr val="1E1E1E"/>
                      </a:solidFill>
                      <a:prstDash val="solid"/>
                      <a:round/>
                      <a:headEnd type="none" w="med" len="med"/>
                      <a:tailEnd type="none" w="med" len="med"/>
                    </a:lnR>
                    <a:lnT w="6350" cap="flat" cmpd="sng" algn="ctr">
                      <a:solidFill>
                        <a:srgbClr val="1E1E1E"/>
                      </a:solidFill>
                      <a:prstDash val="solid"/>
                      <a:round/>
                      <a:headEnd type="none" w="med" len="med"/>
                      <a:tailEnd type="none" w="med" len="med"/>
                    </a:lnT>
                    <a:lnB w="6350" cap="flat" cmpd="sng" algn="ctr">
                      <a:solidFill>
                        <a:srgbClr val="1E1E1E"/>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502920" y="347472"/>
            <a:ext cx="10972800" cy="292608"/>
          </a:xfrm>
          <a:prstGeom prst="rect">
            <a:avLst/>
          </a:prstGeom>
          <a:noFill/>
          <a:ln/>
        </p:spPr>
        <p:txBody>
          <a:bodyPr wrap="square" rtlCol="0" anchor="ctr"/>
          <a:lstStyle/>
          <a:p>
            <a:pPr algn="l" indent="0" marL="0">
              <a:buNone/>
            </a:pPr>
            <a:r>
              <a:rPr lang="en-US" sz="1000" b="1" spc="400" kern="0" dirty="0">
                <a:solidFill>
                  <a:srgbClr val="A8FF3E"/>
                </a:solidFill>
                <a:latin typeface="Calibri" pitchFamily="34" charset="0"/>
                <a:ea typeface="Calibri" pitchFamily="34" charset="-122"/>
                <a:cs typeface="Calibri" pitchFamily="34" charset="-120"/>
              </a:rPr>
              <a:t>THE BREAKTHROUGH PATTERN</a:t>
            </a:r>
            <a:endParaRPr lang="en-US" sz="1000" dirty="0"/>
          </a:p>
        </p:txBody>
      </p:sp>
      <p:sp>
        <p:nvSpPr>
          <p:cNvPr id="3" name="Shape 1"/>
          <p:cNvSpPr/>
          <p:nvPr/>
        </p:nvSpPr>
        <p:spPr>
          <a:xfrm>
            <a:off x="502920" y="658368"/>
            <a:ext cx="54864" cy="502920"/>
          </a:xfrm>
          <a:prstGeom prst="rect">
            <a:avLst/>
          </a:prstGeom>
          <a:solidFill>
            <a:srgbClr val="A8FF3E"/>
          </a:solidFill>
          <a:ln w="12700">
            <a:solidFill>
              <a:srgbClr val="A8FF3E"/>
            </a:solidFill>
            <a:prstDash val="solid"/>
          </a:ln>
        </p:spPr>
      </p:sp>
      <p:sp>
        <p:nvSpPr>
          <p:cNvPr id="4" name="Text 2"/>
          <p:cNvSpPr/>
          <p:nvPr/>
        </p:nvSpPr>
        <p:spPr>
          <a:xfrm>
            <a:off x="685800" y="621792"/>
            <a:ext cx="10058400" cy="548640"/>
          </a:xfrm>
          <a:prstGeom prst="rect">
            <a:avLst/>
          </a:prstGeom>
          <a:noFill/>
          <a:ln/>
        </p:spPr>
        <p:txBody>
          <a:bodyPr wrap="square" rtlCol="0" anchor="ctr"/>
          <a:lstStyle/>
          <a:p>
            <a:pPr algn="l" indent="0" marL="0">
              <a:buNone/>
            </a:pPr>
            <a:r>
              <a:rPr lang="en-US" sz="3200" b="1" dirty="0">
                <a:solidFill>
                  <a:srgbClr val="E9E6DF"/>
                </a:solidFill>
                <a:latin typeface="Calibri" pitchFamily="34" charset="0"/>
                <a:ea typeface="Calibri" pitchFamily="34" charset="-122"/>
                <a:cs typeface="Calibri" pitchFamily="34" charset="-120"/>
              </a:rPr>
              <a:t>Option-vocabulary anchoring</a:t>
            </a:r>
            <a:endParaRPr lang="en-US" sz="3200" dirty="0"/>
          </a:p>
        </p:txBody>
      </p:sp>
      <p:sp>
        <p:nvSpPr>
          <p:cNvPr id="5" name="Shape 3"/>
          <p:cNvSpPr/>
          <p:nvPr/>
        </p:nvSpPr>
        <p:spPr>
          <a:xfrm>
            <a:off x="502920" y="1325880"/>
            <a:ext cx="11155680" cy="731520"/>
          </a:xfrm>
          <a:prstGeom prst="rect">
            <a:avLst/>
          </a:prstGeom>
          <a:solidFill>
            <a:srgbClr val="111111"/>
          </a:solidFill>
          <a:ln w="12700">
            <a:solidFill>
              <a:srgbClr val="1E1E1E"/>
            </a:solidFill>
            <a:prstDash val="solid"/>
          </a:ln>
        </p:spPr>
      </p:sp>
      <p:sp>
        <p:nvSpPr>
          <p:cNvPr id="6" name="Text 4"/>
          <p:cNvSpPr/>
          <p:nvPr/>
        </p:nvSpPr>
        <p:spPr>
          <a:xfrm>
            <a:off x="640080" y="1371600"/>
            <a:ext cx="1097280" cy="256032"/>
          </a:xfrm>
          <a:prstGeom prst="rect">
            <a:avLst/>
          </a:prstGeom>
          <a:noFill/>
          <a:ln/>
        </p:spPr>
        <p:txBody>
          <a:bodyPr wrap="square" rtlCol="0" anchor="ctr"/>
          <a:lstStyle/>
          <a:p>
            <a:pPr indent="0" marL="0">
              <a:buNone/>
            </a:pPr>
            <a:r>
              <a:rPr lang="en-US" sz="900" b="1" spc="200" kern="0" dirty="0">
                <a:solidFill>
                  <a:srgbClr val="5E5E5E"/>
                </a:solidFill>
                <a:latin typeface="Calibri" pitchFamily="34" charset="0"/>
                <a:ea typeface="Calibri" pitchFamily="34" charset="-122"/>
                <a:cs typeface="Calibri" pitchFamily="34" charset="-120"/>
              </a:rPr>
              <a:t>PROBLEM</a:t>
            </a:r>
            <a:endParaRPr lang="en-US" sz="900" dirty="0"/>
          </a:p>
        </p:txBody>
      </p:sp>
      <p:sp>
        <p:nvSpPr>
          <p:cNvPr id="7" name="Text 5"/>
          <p:cNvSpPr/>
          <p:nvPr/>
        </p:nvSpPr>
        <p:spPr>
          <a:xfrm>
            <a:off x="640080" y="1600200"/>
            <a:ext cx="10972800" cy="384048"/>
          </a:xfrm>
          <a:prstGeom prst="rect">
            <a:avLst/>
          </a:prstGeom>
          <a:noFill/>
          <a:ln/>
        </p:spPr>
        <p:txBody>
          <a:bodyPr wrap="square" lIns="0" tIns="0" rIns="0" bIns="0" rtlCol="0" anchor="ctr"/>
          <a:lstStyle/>
          <a:p>
            <a:pPr algn="l" indent="0" marL="0">
              <a:buNone/>
            </a:pPr>
            <a:r>
              <a:rPr lang="en-US" sz="1300" dirty="0">
                <a:solidFill>
                  <a:srgbClr val="E9E6DF"/>
                </a:solidFill>
                <a:latin typeface="Calibri" pitchFamily="34" charset="0"/>
                <a:ea typeface="Calibri" pitchFamily="34" charset="-122"/>
                <a:cs typeface="Calibri" pitchFamily="34" charset="-120"/>
              </a:rPr>
              <a:t>Abstract stance descriptions ('very little trust', 'do NOT trust') failed — the survey model mapped all of them to option B ('Some'). q13 was stuck at 63.7%.</a:t>
            </a:r>
            <a:endParaRPr lang="en-US" sz="1300" dirty="0"/>
          </a:p>
        </p:txBody>
      </p:sp>
      <p:sp>
        <p:nvSpPr>
          <p:cNvPr id="8" name="Shape 6"/>
          <p:cNvSpPr/>
          <p:nvPr/>
        </p:nvSpPr>
        <p:spPr>
          <a:xfrm>
            <a:off x="502920" y="2194560"/>
            <a:ext cx="11155680" cy="640080"/>
          </a:xfrm>
          <a:prstGeom prst="rect">
            <a:avLst/>
          </a:prstGeom>
          <a:solidFill>
            <a:srgbClr val="111111"/>
          </a:solidFill>
          <a:ln w="12700">
            <a:solidFill>
              <a:srgbClr val="1E1E1E"/>
            </a:solidFill>
            <a:prstDash val="solid"/>
          </a:ln>
        </p:spPr>
      </p:sp>
      <p:sp>
        <p:nvSpPr>
          <p:cNvPr id="9" name="Text 7"/>
          <p:cNvSpPr/>
          <p:nvPr/>
        </p:nvSpPr>
        <p:spPr>
          <a:xfrm>
            <a:off x="640080" y="2231136"/>
            <a:ext cx="640080" cy="256032"/>
          </a:xfrm>
          <a:prstGeom prst="rect">
            <a:avLst/>
          </a:prstGeom>
          <a:noFill/>
          <a:ln/>
        </p:spPr>
        <p:txBody>
          <a:bodyPr wrap="square" rtlCol="0" anchor="ctr"/>
          <a:lstStyle/>
          <a:p>
            <a:pPr indent="0" marL="0">
              <a:buNone/>
            </a:pPr>
            <a:r>
              <a:rPr lang="en-US" sz="900" b="1" spc="200" kern="0" dirty="0">
                <a:solidFill>
                  <a:srgbClr val="A8FF3E"/>
                </a:solidFill>
                <a:latin typeface="Calibri" pitchFamily="34" charset="0"/>
                <a:ea typeface="Calibri" pitchFamily="34" charset="-122"/>
                <a:cs typeface="Calibri" pitchFamily="34" charset="-120"/>
              </a:rPr>
              <a:t>FIX</a:t>
            </a:r>
            <a:endParaRPr lang="en-US" sz="900" dirty="0"/>
          </a:p>
        </p:txBody>
      </p:sp>
      <p:sp>
        <p:nvSpPr>
          <p:cNvPr id="10" name="Text 8"/>
          <p:cNvSpPr/>
          <p:nvPr/>
        </p:nvSpPr>
        <p:spPr>
          <a:xfrm>
            <a:off x="640080" y="2450592"/>
            <a:ext cx="10972800" cy="329184"/>
          </a:xfrm>
          <a:prstGeom prst="rect">
            <a:avLst/>
          </a:prstGeom>
          <a:noFill/>
          <a:ln/>
        </p:spPr>
        <p:txBody>
          <a:bodyPr wrap="square" lIns="0" tIns="0" rIns="0" bIns="0" rtlCol="0" anchor="ctr"/>
          <a:lstStyle/>
          <a:p>
            <a:pPr algn="l" indent="0" marL="0">
              <a:buNone/>
            </a:pPr>
            <a:r>
              <a:rPr lang="en-US" sz="1300" dirty="0">
                <a:solidFill>
                  <a:srgbClr val="E9E6DF"/>
                </a:solidFill>
                <a:latin typeface="Calibri" pitchFamily="34" charset="0"/>
                <a:ea typeface="Calibri" pitchFamily="34" charset="-122"/>
                <a:cs typeface="Calibri" pitchFamily="34" charset="-120"/>
              </a:rPr>
              <a:t>Replacing abstract descriptions with exact survey option text unlocked the correct response distribution.</a:t>
            </a:r>
            <a:endParaRPr lang="en-US" sz="1300" dirty="0"/>
          </a:p>
        </p:txBody>
      </p:sp>
      <p:sp>
        <p:nvSpPr>
          <p:cNvPr id="11" name="Shape 9"/>
          <p:cNvSpPr/>
          <p:nvPr/>
        </p:nvSpPr>
        <p:spPr>
          <a:xfrm>
            <a:off x="502920" y="2999232"/>
            <a:ext cx="5349240" cy="1691640"/>
          </a:xfrm>
          <a:prstGeom prst="rect">
            <a:avLst/>
          </a:prstGeom>
          <a:solidFill>
            <a:srgbClr val="110000"/>
          </a:solidFill>
          <a:ln w="12700">
            <a:solidFill>
              <a:srgbClr val="3D1010"/>
            </a:solidFill>
            <a:prstDash val="solid"/>
          </a:ln>
        </p:spPr>
      </p:sp>
      <p:sp>
        <p:nvSpPr>
          <p:cNvPr id="12" name="Shape 10"/>
          <p:cNvSpPr/>
          <p:nvPr/>
        </p:nvSpPr>
        <p:spPr>
          <a:xfrm>
            <a:off x="502920" y="2999232"/>
            <a:ext cx="5349240" cy="45720"/>
          </a:xfrm>
          <a:prstGeom prst="rect">
            <a:avLst/>
          </a:prstGeom>
          <a:solidFill>
            <a:srgbClr val="882222"/>
          </a:solidFill>
          <a:ln w="12700">
            <a:solidFill>
              <a:srgbClr val="882222"/>
            </a:solidFill>
            <a:prstDash val="solid"/>
          </a:ln>
        </p:spPr>
      </p:sp>
      <p:sp>
        <p:nvSpPr>
          <p:cNvPr id="13" name="Text 11"/>
          <p:cNvSpPr/>
          <p:nvPr/>
        </p:nvSpPr>
        <p:spPr>
          <a:xfrm>
            <a:off x="640080" y="3044952"/>
            <a:ext cx="5074920" cy="274320"/>
          </a:xfrm>
          <a:prstGeom prst="rect">
            <a:avLst/>
          </a:prstGeom>
          <a:noFill/>
          <a:ln/>
        </p:spPr>
        <p:txBody>
          <a:bodyPr wrap="square" lIns="0" tIns="0" rIns="0" bIns="0" rtlCol="0" anchor="ctr"/>
          <a:lstStyle/>
          <a:p>
            <a:pPr indent="0" marL="0">
              <a:buNone/>
            </a:pPr>
            <a:r>
              <a:rPr lang="en-US" sz="1000" b="1" spc="200" kern="0" dirty="0">
                <a:solidFill>
                  <a:srgbClr val="CC5555"/>
                </a:solidFill>
                <a:latin typeface="Calibri" pitchFamily="34" charset="0"/>
                <a:ea typeface="Calibri" pitchFamily="34" charset="-122"/>
                <a:cs typeface="Calibri" pitchFamily="34" charset="-120"/>
              </a:rPr>
              <a:t>BEFORE (abstract)</a:t>
            </a:r>
            <a:endParaRPr lang="en-US" sz="1000" dirty="0"/>
          </a:p>
        </p:txBody>
      </p:sp>
      <p:sp>
        <p:nvSpPr>
          <p:cNvPr id="14" name="Text 12"/>
          <p:cNvSpPr/>
          <p:nvPr/>
        </p:nvSpPr>
        <p:spPr>
          <a:xfrm>
            <a:off x="640080" y="3337560"/>
            <a:ext cx="5074920" cy="1188720"/>
          </a:xfrm>
          <a:prstGeom prst="rect">
            <a:avLst/>
          </a:prstGeom>
          <a:noFill/>
          <a:ln/>
        </p:spPr>
        <p:txBody>
          <a:bodyPr wrap="square" lIns="0" tIns="0" rIns="0" bIns="0" rtlCol="0" anchor="ctr"/>
          <a:lstStyle/>
          <a:p>
            <a:pPr algn="l" indent="0" marL="0">
              <a:buNone/>
            </a:pPr>
            <a:r>
              <a:rPr lang="en-US" sz="1300" i="1" dirty="0">
                <a:solidFill>
                  <a:srgbClr val="8A8A8A"/>
                </a:solidFill>
                <a:latin typeface="Calibri" pitchFamily="34" charset="0"/>
                <a:ea typeface="Calibri" pitchFamily="34" charset="-122"/>
                <a:cs typeface="Calibri" pitchFamily="34" charset="-120"/>
              </a:rPr>
              <a:t>'your media trust is very low and you do not trust mainstream news'</a:t>
            </a:r>
            <a:endParaRPr lang="en-US" sz="1300" dirty="0"/>
          </a:p>
        </p:txBody>
      </p:sp>
      <p:sp>
        <p:nvSpPr>
          <p:cNvPr id="15" name="Shape 13"/>
          <p:cNvSpPr/>
          <p:nvPr/>
        </p:nvSpPr>
        <p:spPr>
          <a:xfrm>
            <a:off x="6126480" y="2999232"/>
            <a:ext cx="5349240" cy="1691640"/>
          </a:xfrm>
          <a:prstGeom prst="rect">
            <a:avLst/>
          </a:prstGeom>
          <a:solidFill>
            <a:srgbClr val="001100"/>
          </a:solidFill>
          <a:ln w="12700">
            <a:solidFill>
              <a:srgbClr val="103D10"/>
            </a:solidFill>
            <a:prstDash val="solid"/>
          </a:ln>
        </p:spPr>
      </p:sp>
      <p:sp>
        <p:nvSpPr>
          <p:cNvPr id="16" name="Shape 14"/>
          <p:cNvSpPr/>
          <p:nvPr/>
        </p:nvSpPr>
        <p:spPr>
          <a:xfrm>
            <a:off x="6126480" y="2999232"/>
            <a:ext cx="5349240" cy="45720"/>
          </a:xfrm>
          <a:prstGeom prst="rect">
            <a:avLst/>
          </a:prstGeom>
          <a:solidFill>
            <a:srgbClr val="A8FF3E"/>
          </a:solidFill>
          <a:ln w="12700">
            <a:solidFill>
              <a:srgbClr val="A8FF3E"/>
            </a:solidFill>
            <a:prstDash val="solid"/>
          </a:ln>
        </p:spPr>
      </p:sp>
      <p:sp>
        <p:nvSpPr>
          <p:cNvPr id="17" name="Text 15"/>
          <p:cNvSpPr/>
          <p:nvPr/>
        </p:nvSpPr>
        <p:spPr>
          <a:xfrm>
            <a:off x="6263640" y="3044952"/>
            <a:ext cx="5074920" cy="274320"/>
          </a:xfrm>
          <a:prstGeom prst="rect">
            <a:avLst/>
          </a:prstGeom>
          <a:noFill/>
          <a:ln/>
        </p:spPr>
        <p:txBody>
          <a:bodyPr wrap="square" lIns="0" tIns="0" rIns="0" bIns="0" rtlCol="0" anchor="ctr"/>
          <a:lstStyle/>
          <a:p>
            <a:pPr indent="0" marL="0">
              <a:buNone/>
            </a:pPr>
            <a:r>
              <a:rPr lang="en-US" sz="1000" b="1" spc="200" kern="0" dirty="0">
                <a:solidFill>
                  <a:srgbClr val="A8FF3E"/>
                </a:solidFill>
                <a:latin typeface="Calibri" pitchFamily="34" charset="0"/>
                <a:ea typeface="Calibri" pitchFamily="34" charset="-122"/>
                <a:cs typeface="Calibri" pitchFamily="34" charset="-120"/>
              </a:rPr>
              <a:t>AFTER (option-vocabulary)</a:t>
            </a:r>
            <a:endParaRPr lang="en-US" sz="1000" dirty="0"/>
          </a:p>
        </p:txBody>
      </p:sp>
      <p:sp>
        <p:nvSpPr>
          <p:cNvPr id="18" name="Text 16"/>
          <p:cNvSpPr/>
          <p:nvPr/>
        </p:nvSpPr>
        <p:spPr>
          <a:xfrm>
            <a:off x="6263640" y="3337560"/>
            <a:ext cx="5074920" cy="1188720"/>
          </a:xfrm>
          <a:prstGeom prst="rect">
            <a:avLst/>
          </a:prstGeom>
          <a:noFill/>
          <a:ln/>
        </p:spPr>
        <p:txBody>
          <a:bodyPr wrap="square" lIns="0" tIns="0" rIns="0" bIns="0" rtlCol="0" anchor="ctr"/>
          <a:lstStyle/>
          <a:p>
            <a:pPr algn="l" indent="0" marL="0">
              <a:buNone/>
            </a:pPr>
            <a:r>
              <a:rPr lang="en-US" sz="1300" i="1" dirty="0">
                <a:solidFill>
                  <a:srgbClr val="E9E6DF"/>
                </a:solidFill>
                <a:latin typeface="Calibri" pitchFamily="34" charset="0"/>
                <a:ea typeface="Calibri" pitchFamily="34" charset="-122"/>
                <a:cs typeface="Calibri" pitchFamily="34" charset="-120"/>
              </a:rPr>
              <a:t>'your honest answer is none at all — not some, not not much, but none'</a:t>
            </a:r>
            <a:endParaRPr lang="en-US" sz="1300" dirty="0"/>
          </a:p>
        </p:txBody>
      </p:sp>
      <p:sp>
        <p:nvSpPr>
          <p:cNvPr id="19" name="Shape 17"/>
          <p:cNvSpPr/>
          <p:nvPr/>
        </p:nvSpPr>
        <p:spPr>
          <a:xfrm>
            <a:off x="502920" y="4846320"/>
            <a:ext cx="11155680" cy="548640"/>
          </a:xfrm>
          <a:prstGeom prst="rect">
            <a:avLst/>
          </a:prstGeom>
          <a:solidFill>
            <a:srgbClr val="111111"/>
          </a:solidFill>
          <a:ln w="12700">
            <a:solidFill>
              <a:srgbClr val="1E1E1E"/>
            </a:solidFill>
            <a:prstDash val="solid"/>
          </a:ln>
        </p:spPr>
      </p:sp>
      <p:sp>
        <p:nvSpPr>
          <p:cNvPr id="20" name="Text 18"/>
          <p:cNvSpPr/>
          <p:nvPr/>
        </p:nvSpPr>
        <p:spPr>
          <a:xfrm>
            <a:off x="685800" y="4910328"/>
            <a:ext cx="10972800" cy="411480"/>
          </a:xfrm>
          <a:prstGeom prst="rect">
            <a:avLst/>
          </a:prstGeom>
          <a:noFill/>
          <a:ln/>
        </p:spPr>
        <p:txBody>
          <a:bodyPr wrap="square" lIns="0" tIns="0" rIns="0" bIns="0" rtlCol="0" anchor="ctr"/>
          <a:lstStyle/>
          <a:p>
            <a:pPr algn="l" indent="0" marL="0">
              <a:buNone/>
            </a:pPr>
            <a:r>
              <a:rPr lang="en-US" sz="1400" b="1" dirty="0">
                <a:solidFill>
                  <a:srgbClr val="A8FF3E"/>
                </a:solidFill>
                <a:latin typeface="Calibri" pitchFamily="34" charset="0"/>
                <a:ea typeface="Calibri" pitchFamily="34" charset="-122"/>
                <a:cs typeface="Calibri" pitchFamily="34" charset="-120"/>
              </a:rPr>
              <a:t>q13 jumped from 63.7% → 80.5%  (+15.1 pp).  Pattern now generalized across all stance types.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502920" y="411480"/>
            <a:ext cx="54864" cy="502920"/>
          </a:xfrm>
          <a:prstGeom prst="rect">
            <a:avLst/>
          </a:prstGeom>
          <a:solidFill>
            <a:srgbClr val="A8FF3E"/>
          </a:solidFill>
          <a:ln w="12700">
            <a:solidFill>
              <a:srgbClr val="A8FF3E"/>
            </a:solidFill>
            <a:prstDash val="solid"/>
          </a:ln>
        </p:spPr>
      </p:sp>
      <p:sp>
        <p:nvSpPr>
          <p:cNvPr id="3" name="Text 1"/>
          <p:cNvSpPr/>
          <p:nvPr/>
        </p:nvSpPr>
        <p:spPr>
          <a:xfrm>
            <a:off x="685800" y="384048"/>
            <a:ext cx="10515600" cy="548640"/>
          </a:xfrm>
          <a:prstGeom prst="rect">
            <a:avLst/>
          </a:prstGeom>
          <a:noFill/>
          <a:ln/>
        </p:spPr>
        <p:txBody>
          <a:bodyPr wrap="square" rtlCol="0" anchor="ctr"/>
          <a:lstStyle/>
          <a:p>
            <a:pPr algn="l" indent="0" marL="0">
              <a:buNone/>
            </a:pPr>
            <a:r>
              <a:rPr lang="en-US" sz="2800" b="1" dirty="0">
                <a:solidFill>
                  <a:srgbClr val="E9E6DF"/>
                </a:solidFill>
                <a:latin typeface="Calibri" pitchFamily="34" charset="0"/>
                <a:ea typeface="Calibri" pitchFamily="34" charset="-122"/>
                <a:cs typeface="Calibri" pitchFamily="34" charset="-120"/>
              </a:rPr>
              <a:t>All 15 questions above 77%</a:t>
            </a:r>
            <a:endParaRPr lang="en-US" sz="2800" dirty="0"/>
          </a:p>
        </p:txBody>
      </p:sp>
      <p:sp>
        <p:nvSpPr>
          <p:cNvPr id="4" name="Text 2"/>
          <p:cNvSpPr/>
          <p:nvPr/>
        </p:nvSpPr>
        <p:spPr>
          <a:xfrm>
            <a:off x="685800" y="932688"/>
            <a:ext cx="10515600" cy="320040"/>
          </a:xfrm>
          <a:prstGeom prst="rect">
            <a:avLst/>
          </a:prstGeom>
          <a:noFill/>
          <a:ln/>
        </p:spPr>
        <p:txBody>
          <a:bodyPr wrap="square" rtlCol="0" anchor="ctr"/>
          <a:lstStyle/>
          <a:p>
            <a:pPr algn="l" indent="0" marL="0">
              <a:buNone/>
            </a:pPr>
            <a:r>
              <a:rPr lang="en-US" sz="1300" dirty="0">
                <a:solidFill>
                  <a:srgbClr val="8A8A8A"/>
                </a:solidFill>
                <a:latin typeface="Calibri" pitchFamily="34" charset="0"/>
                <a:ea typeface="Calibri" pitchFamily="34" charset="-122"/>
                <a:cs typeface="Calibri" pitchFamily="34" charset="-120"/>
              </a:rPr>
              <a:t>No question below 77.8% distribution accuracy</a:t>
            </a:r>
            <a:endParaRPr lang="en-US" sz="1300" dirty="0"/>
          </a:p>
        </p:txBody>
      </p:sp>
      <p:sp>
        <p:nvSpPr>
          <p:cNvPr id="5" name="Shape 3"/>
          <p:cNvSpPr/>
          <p:nvPr/>
        </p:nvSpPr>
        <p:spPr>
          <a:xfrm>
            <a:off x="502920" y="1371600"/>
            <a:ext cx="5669280" cy="329184"/>
          </a:xfrm>
          <a:prstGeom prst="rect">
            <a:avLst/>
          </a:prstGeom>
          <a:solidFill>
            <a:srgbClr val="111111"/>
          </a:solidFill>
          <a:ln w="12700">
            <a:solidFill>
              <a:srgbClr val="1A1A1A"/>
            </a:solidFill>
            <a:prstDash val="solid"/>
          </a:ln>
        </p:spPr>
      </p:sp>
      <p:sp>
        <p:nvSpPr>
          <p:cNvPr id="6" name="Text 4"/>
          <p:cNvSpPr/>
          <p:nvPr/>
        </p:nvSpPr>
        <p:spPr>
          <a:xfrm>
            <a:off x="640080" y="1408176"/>
            <a:ext cx="3657600" cy="256032"/>
          </a:xfrm>
          <a:prstGeom prst="rect">
            <a:avLst/>
          </a:prstGeom>
          <a:noFill/>
          <a:ln/>
        </p:spPr>
        <p:txBody>
          <a:bodyPr wrap="square" lIns="0" tIns="0" rIns="0" bIns="0" rtlCol="0" anchor="ctr"/>
          <a:lstStyle/>
          <a:p>
            <a:pPr algn="l" indent="0" marL="0">
              <a:buNone/>
            </a:pPr>
            <a:r>
              <a:rPr lang="en-US" sz="1200" dirty="0">
                <a:solidFill>
                  <a:srgbClr val="E9E6DF"/>
                </a:solidFill>
                <a:latin typeface="Calibri" pitchFamily="34" charset="0"/>
                <a:ea typeface="Calibri" pitchFamily="34" charset="-122"/>
                <a:cs typeface="Calibri" pitchFamily="34" charset="-120"/>
              </a:rPr>
              <a:t>q01  Economy (right direction)</a:t>
            </a:r>
            <a:endParaRPr lang="en-US" sz="1200" dirty="0"/>
          </a:p>
        </p:txBody>
      </p:sp>
      <p:sp>
        <p:nvSpPr>
          <p:cNvPr id="7" name="Text 5"/>
          <p:cNvSpPr/>
          <p:nvPr/>
        </p:nvSpPr>
        <p:spPr>
          <a:xfrm>
            <a:off x="4160520" y="1408176"/>
            <a:ext cx="1828800" cy="256032"/>
          </a:xfrm>
          <a:prstGeom prst="rect">
            <a:avLst/>
          </a:prstGeom>
          <a:noFill/>
          <a:ln/>
        </p:spPr>
        <p:txBody>
          <a:bodyPr wrap="square" lIns="0" tIns="0" rIns="0" bIns="0" rtlCol="0" anchor="ctr"/>
          <a:lstStyle/>
          <a:p>
            <a:pPr algn="r" indent="0" marL="0">
              <a:buNone/>
            </a:pPr>
            <a:r>
              <a:rPr lang="en-US" sz="1200" dirty="0">
                <a:solidFill>
                  <a:srgbClr val="E9E6DF"/>
                </a:solidFill>
                <a:latin typeface="Calibri" pitchFamily="34" charset="0"/>
                <a:ea typeface="Calibri" pitchFamily="34" charset="-122"/>
                <a:cs typeface="Calibri" pitchFamily="34" charset="-120"/>
              </a:rPr>
              <a:t>82.7%</a:t>
            </a:r>
            <a:endParaRPr lang="en-US" sz="1200" dirty="0"/>
          </a:p>
        </p:txBody>
      </p:sp>
      <p:sp>
        <p:nvSpPr>
          <p:cNvPr id="8" name="Shape 6"/>
          <p:cNvSpPr/>
          <p:nvPr/>
        </p:nvSpPr>
        <p:spPr>
          <a:xfrm>
            <a:off x="502920" y="1719072"/>
            <a:ext cx="5669280" cy="329184"/>
          </a:xfrm>
          <a:prstGeom prst="rect">
            <a:avLst/>
          </a:prstGeom>
          <a:solidFill>
            <a:srgbClr val="0D0D0D"/>
          </a:solidFill>
          <a:ln w="12700">
            <a:solidFill>
              <a:srgbClr val="1A1A1A"/>
            </a:solidFill>
            <a:prstDash val="solid"/>
          </a:ln>
        </p:spPr>
      </p:sp>
      <p:sp>
        <p:nvSpPr>
          <p:cNvPr id="9" name="Text 7"/>
          <p:cNvSpPr/>
          <p:nvPr/>
        </p:nvSpPr>
        <p:spPr>
          <a:xfrm>
            <a:off x="640080" y="1755648"/>
            <a:ext cx="3657600" cy="256032"/>
          </a:xfrm>
          <a:prstGeom prst="rect">
            <a:avLst/>
          </a:prstGeom>
          <a:noFill/>
          <a:ln/>
        </p:spPr>
        <p:txBody>
          <a:bodyPr wrap="square" lIns="0" tIns="0" rIns="0" bIns="0" rtlCol="0" anchor="ctr"/>
          <a:lstStyle/>
          <a:p>
            <a:pPr algn="l" indent="0" marL="0">
              <a:buNone/>
            </a:pPr>
            <a:r>
              <a:rPr lang="en-US" sz="1200" dirty="0">
                <a:solidFill>
                  <a:srgbClr val="E9E6DF"/>
                </a:solidFill>
                <a:latin typeface="Calibri" pitchFamily="34" charset="0"/>
                <a:ea typeface="Calibri" pitchFamily="34" charset="-122"/>
                <a:cs typeface="Calibri" pitchFamily="34" charset="-120"/>
              </a:rPr>
              <a:t>q02  Economy (conditions)</a:t>
            </a:r>
            <a:endParaRPr lang="en-US" sz="1200" dirty="0"/>
          </a:p>
        </p:txBody>
      </p:sp>
      <p:sp>
        <p:nvSpPr>
          <p:cNvPr id="10" name="Text 8"/>
          <p:cNvSpPr/>
          <p:nvPr/>
        </p:nvSpPr>
        <p:spPr>
          <a:xfrm>
            <a:off x="4160520" y="1755648"/>
            <a:ext cx="1828800" cy="256032"/>
          </a:xfrm>
          <a:prstGeom prst="rect">
            <a:avLst/>
          </a:prstGeom>
          <a:noFill/>
          <a:ln/>
        </p:spPr>
        <p:txBody>
          <a:bodyPr wrap="square" lIns="0" tIns="0" rIns="0" bIns="0" rtlCol="0" anchor="ctr"/>
          <a:lstStyle/>
          <a:p>
            <a:pPr algn="r" indent="0" marL="0">
              <a:buNone/>
            </a:pPr>
            <a:r>
              <a:rPr lang="en-US" sz="1200" b="1" dirty="0">
                <a:solidFill>
                  <a:srgbClr val="A8FF3E"/>
                </a:solidFill>
                <a:latin typeface="Calibri" pitchFamily="34" charset="0"/>
                <a:ea typeface="Calibri" pitchFamily="34" charset="-122"/>
                <a:cs typeface="Calibri" pitchFamily="34" charset="-120"/>
              </a:rPr>
              <a:t>95.5%  ★</a:t>
            </a:r>
            <a:endParaRPr lang="en-US" sz="1200" dirty="0"/>
          </a:p>
        </p:txBody>
      </p:sp>
      <p:sp>
        <p:nvSpPr>
          <p:cNvPr id="11" name="Shape 9"/>
          <p:cNvSpPr/>
          <p:nvPr/>
        </p:nvSpPr>
        <p:spPr>
          <a:xfrm>
            <a:off x="502920" y="2066544"/>
            <a:ext cx="5669280" cy="329184"/>
          </a:xfrm>
          <a:prstGeom prst="rect">
            <a:avLst/>
          </a:prstGeom>
          <a:solidFill>
            <a:srgbClr val="111111"/>
          </a:solidFill>
          <a:ln w="12700">
            <a:solidFill>
              <a:srgbClr val="1A1A1A"/>
            </a:solidFill>
            <a:prstDash val="solid"/>
          </a:ln>
        </p:spPr>
      </p:sp>
      <p:sp>
        <p:nvSpPr>
          <p:cNvPr id="12" name="Text 10"/>
          <p:cNvSpPr/>
          <p:nvPr/>
        </p:nvSpPr>
        <p:spPr>
          <a:xfrm>
            <a:off x="640080" y="2103120"/>
            <a:ext cx="3657600" cy="256032"/>
          </a:xfrm>
          <a:prstGeom prst="rect">
            <a:avLst/>
          </a:prstGeom>
          <a:noFill/>
          <a:ln/>
        </p:spPr>
        <p:txBody>
          <a:bodyPr wrap="square" lIns="0" tIns="0" rIns="0" bIns="0" rtlCol="0" anchor="ctr"/>
          <a:lstStyle/>
          <a:p>
            <a:pPr algn="l" indent="0" marL="0">
              <a:buNone/>
            </a:pPr>
            <a:r>
              <a:rPr lang="en-US" sz="1200" dirty="0">
                <a:solidFill>
                  <a:srgbClr val="E9E6DF"/>
                </a:solidFill>
                <a:latin typeface="Calibri" pitchFamily="34" charset="0"/>
                <a:ea typeface="Calibri" pitchFamily="34" charset="-122"/>
                <a:cs typeface="Calibri" pitchFamily="34" charset="-120"/>
              </a:rPr>
              <a:t>q03  Gun policy</a:t>
            </a:r>
            <a:endParaRPr lang="en-US" sz="1200" dirty="0"/>
          </a:p>
        </p:txBody>
      </p:sp>
      <p:sp>
        <p:nvSpPr>
          <p:cNvPr id="13" name="Text 11"/>
          <p:cNvSpPr/>
          <p:nvPr/>
        </p:nvSpPr>
        <p:spPr>
          <a:xfrm>
            <a:off x="4160520" y="2103120"/>
            <a:ext cx="1828800" cy="256032"/>
          </a:xfrm>
          <a:prstGeom prst="rect">
            <a:avLst/>
          </a:prstGeom>
          <a:noFill/>
          <a:ln/>
        </p:spPr>
        <p:txBody>
          <a:bodyPr wrap="square" lIns="0" tIns="0" rIns="0" bIns="0" rtlCol="0" anchor="ctr"/>
          <a:lstStyle/>
          <a:p>
            <a:pPr algn="r" indent="0" marL="0">
              <a:buNone/>
            </a:pPr>
            <a:r>
              <a:rPr lang="en-US" sz="1200" b="1" dirty="0">
                <a:solidFill>
                  <a:srgbClr val="A8FF3E"/>
                </a:solidFill>
                <a:latin typeface="Calibri" pitchFamily="34" charset="0"/>
                <a:ea typeface="Calibri" pitchFamily="34" charset="-122"/>
                <a:cs typeface="Calibri" pitchFamily="34" charset="-120"/>
              </a:rPr>
              <a:t>90.7%</a:t>
            </a:r>
            <a:endParaRPr lang="en-US" sz="1200" dirty="0"/>
          </a:p>
        </p:txBody>
      </p:sp>
      <p:sp>
        <p:nvSpPr>
          <p:cNvPr id="14" name="Shape 12"/>
          <p:cNvSpPr/>
          <p:nvPr/>
        </p:nvSpPr>
        <p:spPr>
          <a:xfrm>
            <a:off x="502920" y="2414016"/>
            <a:ext cx="5669280" cy="329184"/>
          </a:xfrm>
          <a:prstGeom prst="rect">
            <a:avLst/>
          </a:prstGeom>
          <a:solidFill>
            <a:srgbClr val="0D0D0D"/>
          </a:solidFill>
          <a:ln w="12700">
            <a:solidFill>
              <a:srgbClr val="1A1A1A"/>
            </a:solidFill>
            <a:prstDash val="solid"/>
          </a:ln>
        </p:spPr>
      </p:sp>
      <p:sp>
        <p:nvSpPr>
          <p:cNvPr id="15" name="Text 13"/>
          <p:cNvSpPr/>
          <p:nvPr/>
        </p:nvSpPr>
        <p:spPr>
          <a:xfrm>
            <a:off x="640080" y="2450592"/>
            <a:ext cx="3657600" cy="256032"/>
          </a:xfrm>
          <a:prstGeom prst="rect">
            <a:avLst/>
          </a:prstGeom>
          <a:noFill/>
          <a:ln/>
        </p:spPr>
        <p:txBody>
          <a:bodyPr wrap="square" lIns="0" tIns="0" rIns="0" bIns="0" rtlCol="0" anchor="ctr"/>
          <a:lstStyle/>
          <a:p>
            <a:pPr algn="l" indent="0" marL="0">
              <a:buNone/>
            </a:pPr>
            <a:r>
              <a:rPr lang="en-US" sz="1200" dirty="0">
                <a:solidFill>
                  <a:srgbClr val="E9E6DF"/>
                </a:solidFill>
                <a:latin typeface="Calibri" pitchFamily="34" charset="0"/>
                <a:ea typeface="Calibri" pitchFamily="34" charset="-122"/>
                <a:cs typeface="Calibri" pitchFamily="34" charset="-120"/>
              </a:rPr>
              <a:t>q04  Immigration</a:t>
            </a:r>
            <a:endParaRPr lang="en-US" sz="1200" dirty="0"/>
          </a:p>
        </p:txBody>
      </p:sp>
      <p:sp>
        <p:nvSpPr>
          <p:cNvPr id="16" name="Text 14"/>
          <p:cNvSpPr/>
          <p:nvPr/>
        </p:nvSpPr>
        <p:spPr>
          <a:xfrm>
            <a:off x="4160520" y="2450592"/>
            <a:ext cx="1828800" cy="256032"/>
          </a:xfrm>
          <a:prstGeom prst="rect">
            <a:avLst/>
          </a:prstGeom>
          <a:noFill/>
          <a:ln/>
        </p:spPr>
        <p:txBody>
          <a:bodyPr wrap="square" lIns="0" tIns="0" rIns="0" bIns="0" rtlCol="0" anchor="ctr"/>
          <a:lstStyle/>
          <a:p>
            <a:pPr algn="r" indent="0" marL="0">
              <a:buNone/>
            </a:pPr>
            <a:r>
              <a:rPr lang="en-US" sz="1200" b="1" dirty="0">
                <a:solidFill>
                  <a:srgbClr val="A8FF3E"/>
                </a:solidFill>
                <a:latin typeface="Calibri" pitchFamily="34" charset="0"/>
                <a:ea typeface="Calibri" pitchFamily="34" charset="-122"/>
                <a:cs typeface="Calibri" pitchFamily="34" charset="-120"/>
              </a:rPr>
              <a:t>90.8%</a:t>
            </a:r>
            <a:endParaRPr lang="en-US" sz="1200" dirty="0"/>
          </a:p>
        </p:txBody>
      </p:sp>
      <p:sp>
        <p:nvSpPr>
          <p:cNvPr id="17" name="Shape 15"/>
          <p:cNvSpPr/>
          <p:nvPr/>
        </p:nvSpPr>
        <p:spPr>
          <a:xfrm>
            <a:off x="502920" y="2761488"/>
            <a:ext cx="5669280" cy="329184"/>
          </a:xfrm>
          <a:prstGeom prst="rect">
            <a:avLst/>
          </a:prstGeom>
          <a:solidFill>
            <a:srgbClr val="111111"/>
          </a:solidFill>
          <a:ln w="12700">
            <a:solidFill>
              <a:srgbClr val="1A1A1A"/>
            </a:solidFill>
            <a:prstDash val="solid"/>
          </a:ln>
        </p:spPr>
      </p:sp>
      <p:sp>
        <p:nvSpPr>
          <p:cNvPr id="18" name="Text 16"/>
          <p:cNvSpPr/>
          <p:nvPr/>
        </p:nvSpPr>
        <p:spPr>
          <a:xfrm>
            <a:off x="640080" y="2798064"/>
            <a:ext cx="3657600" cy="256032"/>
          </a:xfrm>
          <a:prstGeom prst="rect">
            <a:avLst/>
          </a:prstGeom>
          <a:noFill/>
          <a:ln/>
        </p:spPr>
        <p:txBody>
          <a:bodyPr wrap="square" lIns="0" tIns="0" rIns="0" bIns="0" rtlCol="0" anchor="ctr"/>
          <a:lstStyle/>
          <a:p>
            <a:pPr algn="l" indent="0" marL="0">
              <a:buNone/>
            </a:pPr>
            <a:r>
              <a:rPr lang="en-US" sz="1200" dirty="0">
                <a:solidFill>
                  <a:srgbClr val="E9E6DF"/>
                </a:solidFill>
                <a:latin typeface="Calibri" pitchFamily="34" charset="0"/>
                <a:ea typeface="Calibri" pitchFamily="34" charset="-122"/>
                <a:cs typeface="Calibri" pitchFamily="34" charset="-120"/>
              </a:rPr>
              <a:t>q05  Climate</a:t>
            </a:r>
            <a:endParaRPr lang="en-US" sz="1200" dirty="0"/>
          </a:p>
        </p:txBody>
      </p:sp>
      <p:sp>
        <p:nvSpPr>
          <p:cNvPr id="19" name="Text 17"/>
          <p:cNvSpPr/>
          <p:nvPr/>
        </p:nvSpPr>
        <p:spPr>
          <a:xfrm>
            <a:off x="4160520" y="2798064"/>
            <a:ext cx="1828800" cy="256032"/>
          </a:xfrm>
          <a:prstGeom prst="rect">
            <a:avLst/>
          </a:prstGeom>
          <a:noFill/>
          <a:ln/>
        </p:spPr>
        <p:txBody>
          <a:bodyPr wrap="square" lIns="0" tIns="0" rIns="0" bIns="0" rtlCol="0" anchor="ctr"/>
          <a:lstStyle/>
          <a:p>
            <a:pPr algn="r" indent="0" marL="0">
              <a:buNone/>
            </a:pPr>
            <a:r>
              <a:rPr lang="en-US" sz="1200" dirty="0">
                <a:solidFill>
                  <a:srgbClr val="E9E6DF"/>
                </a:solidFill>
                <a:latin typeface="Calibri" pitchFamily="34" charset="0"/>
                <a:ea typeface="Calibri" pitchFamily="34" charset="-122"/>
                <a:cs typeface="Calibri" pitchFamily="34" charset="-120"/>
              </a:rPr>
              <a:t>82.0%</a:t>
            </a:r>
            <a:endParaRPr lang="en-US" sz="1200" dirty="0"/>
          </a:p>
        </p:txBody>
      </p:sp>
      <p:sp>
        <p:nvSpPr>
          <p:cNvPr id="20" name="Shape 18"/>
          <p:cNvSpPr/>
          <p:nvPr/>
        </p:nvSpPr>
        <p:spPr>
          <a:xfrm>
            <a:off x="502920" y="3108960"/>
            <a:ext cx="5669280" cy="329184"/>
          </a:xfrm>
          <a:prstGeom prst="rect">
            <a:avLst/>
          </a:prstGeom>
          <a:solidFill>
            <a:srgbClr val="0D0D0D"/>
          </a:solidFill>
          <a:ln w="12700">
            <a:solidFill>
              <a:srgbClr val="1A1A1A"/>
            </a:solidFill>
            <a:prstDash val="solid"/>
          </a:ln>
        </p:spPr>
      </p:sp>
      <p:sp>
        <p:nvSpPr>
          <p:cNvPr id="21" name="Text 19"/>
          <p:cNvSpPr/>
          <p:nvPr/>
        </p:nvSpPr>
        <p:spPr>
          <a:xfrm>
            <a:off x="640080" y="3145536"/>
            <a:ext cx="3657600" cy="256032"/>
          </a:xfrm>
          <a:prstGeom prst="rect">
            <a:avLst/>
          </a:prstGeom>
          <a:noFill/>
          <a:ln/>
        </p:spPr>
        <p:txBody>
          <a:bodyPr wrap="square" lIns="0" tIns="0" rIns="0" bIns="0" rtlCol="0" anchor="ctr"/>
          <a:lstStyle/>
          <a:p>
            <a:pPr algn="l" indent="0" marL="0">
              <a:buNone/>
            </a:pPr>
            <a:r>
              <a:rPr lang="en-US" sz="1200" dirty="0">
                <a:solidFill>
                  <a:srgbClr val="E9E6DF"/>
                </a:solidFill>
                <a:latin typeface="Calibri" pitchFamily="34" charset="0"/>
                <a:ea typeface="Calibri" pitchFamily="34" charset="-122"/>
                <a:cs typeface="Calibri" pitchFamily="34" charset="-120"/>
              </a:rPr>
              <a:t>q06  Social trust</a:t>
            </a:r>
            <a:endParaRPr lang="en-US" sz="1200" dirty="0"/>
          </a:p>
        </p:txBody>
      </p:sp>
      <p:sp>
        <p:nvSpPr>
          <p:cNvPr id="22" name="Text 20"/>
          <p:cNvSpPr/>
          <p:nvPr/>
        </p:nvSpPr>
        <p:spPr>
          <a:xfrm>
            <a:off x="4160520" y="3145536"/>
            <a:ext cx="1828800" cy="256032"/>
          </a:xfrm>
          <a:prstGeom prst="rect">
            <a:avLst/>
          </a:prstGeom>
          <a:noFill/>
          <a:ln/>
        </p:spPr>
        <p:txBody>
          <a:bodyPr wrap="square" lIns="0" tIns="0" rIns="0" bIns="0" rtlCol="0" anchor="ctr"/>
          <a:lstStyle/>
          <a:p>
            <a:pPr algn="r" indent="0" marL="0">
              <a:buNone/>
            </a:pPr>
            <a:r>
              <a:rPr lang="en-US" sz="1200" dirty="0">
                <a:solidFill>
                  <a:srgbClr val="E9E6DF"/>
                </a:solidFill>
                <a:latin typeface="Calibri" pitchFamily="34" charset="0"/>
                <a:ea typeface="Calibri" pitchFamily="34" charset="-122"/>
                <a:cs typeface="Calibri" pitchFamily="34" charset="-120"/>
              </a:rPr>
              <a:t>84.1%</a:t>
            </a:r>
            <a:endParaRPr lang="en-US" sz="1200" dirty="0"/>
          </a:p>
        </p:txBody>
      </p:sp>
      <p:sp>
        <p:nvSpPr>
          <p:cNvPr id="23" name="Shape 21"/>
          <p:cNvSpPr/>
          <p:nvPr/>
        </p:nvSpPr>
        <p:spPr>
          <a:xfrm>
            <a:off x="502920" y="3456432"/>
            <a:ext cx="5669280" cy="329184"/>
          </a:xfrm>
          <a:prstGeom prst="rect">
            <a:avLst/>
          </a:prstGeom>
          <a:solidFill>
            <a:srgbClr val="111111"/>
          </a:solidFill>
          <a:ln w="12700">
            <a:solidFill>
              <a:srgbClr val="1A1A1A"/>
            </a:solidFill>
            <a:prstDash val="solid"/>
          </a:ln>
        </p:spPr>
      </p:sp>
      <p:sp>
        <p:nvSpPr>
          <p:cNvPr id="24" name="Text 22"/>
          <p:cNvSpPr/>
          <p:nvPr/>
        </p:nvSpPr>
        <p:spPr>
          <a:xfrm>
            <a:off x="640080" y="3493008"/>
            <a:ext cx="3657600" cy="256032"/>
          </a:xfrm>
          <a:prstGeom prst="rect">
            <a:avLst/>
          </a:prstGeom>
          <a:noFill/>
          <a:ln/>
        </p:spPr>
        <p:txBody>
          <a:bodyPr wrap="square" lIns="0" tIns="0" rIns="0" bIns="0" rtlCol="0" anchor="ctr"/>
          <a:lstStyle/>
          <a:p>
            <a:pPr algn="l" indent="0" marL="0">
              <a:buNone/>
            </a:pPr>
            <a:r>
              <a:rPr lang="en-US" sz="1200" dirty="0">
                <a:solidFill>
                  <a:srgbClr val="E9E6DF"/>
                </a:solidFill>
                <a:latin typeface="Calibri" pitchFamily="34" charset="0"/>
                <a:ea typeface="Calibri" pitchFamily="34" charset="-122"/>
                <a:cs typeface="Calibri" pitchFamily="34" charset="-120"/>
              </a:rPr>
              <a:t>q07  Government trust</a:t>
            </a:r>
            <a:endParaRPr lang="en-US" sz="1200" dirty="0"/>
          </a:p>
        </p:txBody>
      </p:sp>
      <p:sp>
        <p:nvSpPr>
          <p:cNvPr id="25" name="Text 23"/>
          <p:cNvSpPr/>
          <p:nvPr/>
        </p:nvSpPr>
        <p:spPr>
          <a:xfrm>
            <a:off x="4160520" y="3493008"/>
            <a:ext cx="1828800" cy="256032"/>
          </a:xfrm>
          <a:prstGeom prst="rect">
            <a:avLst/>
          </a:prstGeom>
          <a:noFill/>
          <a:ln/>
        </p:spPr>
        <p:txBody>
          <a:bodyPr wrap="square" lIns="0" tIns="0" rIns="0" bIns="0" rtlCol="0" anchor="ctr"/>
          <a:lstStyle/>
          <a:p>
            <a:pPr algn="r" indent="0" marL="0">
              <a:buNone/>
            </a:pPr>
            <a:r>
              <a:rPr lang="en-US" sz="1200" b="1" dirty="0">
                <a:solidFill>
                  <a:srgbClr val="A8FF3E"/>
                </a:solidFill>
                <a:latin typeface="Calibri" pitchFamily="34" charset="0"/>
                <a:ea typeface="Calibri" pitchFamily="34" charset="-122"/>
                <a:cs typeface="Calibri" pitchFamily="34" charset="-120"/>
              </a:rPr>
              <a:t>90.5%</a:t>
            </a:r>
            <a:endParaRPr lang="en-US" sz="1200" dirty="0"/>
          </a:p>
        </p:txBody>
      </p:sp>
      <p:sp>
        <p:nvSpPr>
          <p:cNvPr id="26" name="Shape 24"/>
          <p:cNvSpPr/>
          <p:nvPr/>
        </p:nvSpPr>
        <p:spPr>
          <a:xfrm>
            <a:off x="502920" y="3803904"/>
            <a:ext cx="5669280" cy="329184"/>
          </a:xfrm>
          <a:prstGeom prst="rect">
            <a:avLst/>
          </a:prstGeom>
          <a:solidFill>
            <a:srgbClr val="0D0D0D"/>
          </a:solidFill>
          <a:ln w="12700">
            <a:solidFill>
              <a:srgbClr val="1A1A1A"/>
            </a:solidFill>
            <a:prstDash val="solid"/>
          </a:ln>
        </p:spPr>
      </p:sp>
      <p:sp>
        <p:nvSpPr>
          <p:cNvPr id="27" name="Text 25"/>
          <p:cNvSpPr/>
          <p:nvPr/>
        </p:nvSpPr>
        <p:spPr>
          <a:xfrm>
            <a:off x="640080" y="3840480"/>
            <a:ext cx="3657600" cy="256032"/>
          </a:xfrm>
          <a:prstGeom prst="rect">
            <a:avLst/>
          </a:prstGeom>
          <a:noFill/>
          <a:ln/>
        </p:spPr>
        <p:txBody>
          <a:bodyPr wrap="square" lIns="0" tIns="0" rIns="0" bIns="0" rtlCol="0" anchor="ctr"/>
          <a:lstStyle/>
          <a:p>
            <a:pPr algn="l" indent="0" marL="0">
              <a:buNone/>
            </a:pPr>
            <a:r>
              <a:rPr lang="en-US" sz="1200" dirty="0">
                <a:solidFill>
                  <a:srgbClr val="E9E6DF"/>
                </a:solidFill>
                <a:latin typeface="Calibri" pitchFamily="34" charset="0"/>
                <a:ea typeface="Calibri" pitchFamily="34" charset="-122"/>
                <a:cs typeface="Calibri" pitchFamily="34" charset="-120"/>
              </a:rPr>
              <a:t>q08  Religion importance</a:t>
            </a:r>
            <a:endParaRPr lang="en-US" sz="1200" dirty="0"/>
          </a:p>
        </p:txBody>
      </p:sp>
      <p:sp>
        <p:nvSpPr>
          <p:cNvPr id="28" name="Text 26"/>
          <p:cNvSpPr/>
          <p:nvPr/>
        </p:nvSpPr>
        <p:spPr>
          <a:xfrm>
            <a:off x="4160520" y="3840480"/>
            <a:ext cx="1828800" cy="256032"/>
          </a:xfrm>
          <a:prstGeom prst="rect">
            <a:avLst/>
          </a:prstGeom>
          <a:noFill/>
          <a:ln/>
        </p:spPr>
        <p:txBody>
          <a:bodyPr wrap="square" lIns="0" tIns="0" rIns="0" bIns="0" rtlCol="0" anchor="ctr"/>
          <a:lstStyle/>
          <a:p>
            <a:pPr algn="r" indent="0" marL="0">
              <a:buNone/>
            </a:pPr>
            <a:r>
              <a:rPr lang="en-US" sz="1200" dirty="0">
                <a:solidFill>
                  <a:srgbClr val="E9E6DF"/>
                </a:solidFill>
                <a:latin typeface="Calibri" pitchFamily="34" charset="0"/>
                <a:ea typeface="Calibri" pitchFamily="34" charset="-122"/>
                <a:cs typeface="Calibri" pitchFamily="34" charset="-120"/>
              </a:rPr>
              <a:t>85.3%</a:t>
            </a:r>
            <a:endParaRPr lang="en-US" sz="1200" dirty="0"/>
          </a:p>
        </p:txBody>
      </p:sp>
      <p:sp>
        <p:nvSpPr>
          <p:cNvPr id="29" name="Shape 27"/>
          <p:cNvSpPr/>
          <p:nvPr/>
        </p:nvSpPr>
        <p:spPr>
          <a:xfrm>
            <a:off x="6400800" y="1371600"/>
            <a:ext cx="5486400" cy="329184"/>
          </a:xfrm>
          <a:prstGeom prst="rect">
            <a:avLst/>
          </a:prstGeom>
          <a:solidFill>
            <a:srgbClr val="111111"/>
          </a:solidFill>
          <a:ln w="12700">
            <a:solidFill>
              <a:srgbClr val="1A1A1A"/>
            </a:solidFill>
            <a:prstDash val="solid"/>
          </a:ln>
        </p:spPr>
      </p:sp>
      <p:sp>
        <p:nvSpPr>
          <p:cNvPr id="30" name="Text 28"/>
          <p:cNvSpPr/>
          <p:nvPr/>
        </p:nvSpPr>
        <p:spPr>
          <a:xfrm>
            <a:off x="6537960" y="1408176"/>
            <a:ext cx="3657600" cy="256032"/>
          </a:xfrm>
          <a:prstGeom prst="rect">
            <a:avLst/>
          </a:prstGeom>
          <a:noFill/>
          <a:ln/>
        </p:spPr>
        <p:txBody>
          <a:bodyPr wrap="square" lIns="0" tIns="0" rIns="0" bIns="0" rtlCol="0" anchor="ctr"/>
          <a:lstStyle/>
          <a:p>
            <a:pPr algn="l" indent="0" marL="0">
              <a:buNone/>
            </a:pPr>
            <a:r>
              <a:rPr lang="en-US" sz="1200" dirty="0">
                <a:solidFill>
                  <a:srgbClr val="E9E6DF"/>
                </a:solidFill>
                <a:latin typeface="Calibri" pitchFamily="34" charset="0"/>
                <a:ea typeface="Calibri" pitchFamily="34" charset="-122"/>
                <a:cs typeface="Calibri" pitchFamily="34" charset="-120"/>
              </a:rPr>
              <a:t>q09  Abortion</a:t>
            </a:r>
            <a:endParaRPr lang="en-US" sz="1200" dirty="0"/>
          </a:p>
        </p:txBody>
      </p:sp>
      <p:sp>
        <p:nvSpPr>
          <p:cNvPr id="31" name="Text 29"/>
          <p:cNvSpPr/>
          <p:nvPr/>
        </p:nvSpPr>
        <p:spPr>
          <a:xfrm>
            <a:off x="10058400" y="1408176"/>
            <a:ext cx="1828800" cy="256032"/>
          </a:xfrm>
          <a:prstGeom prst="rect">
            <a:avLst/>
          </a:prstGeom>
          <a:noFill/>
          <a:ln/>
        </p:spPr>
        <p:txBody>
          <a:bodyPr wrap="square" lIns="0" tIns="0" rIns="0" bIns="0" rtlCol="0" anchor="ctr"/>
          <a:lstStyle/>
          <a:p>
            <a:pPr algn="r" indent="0" marL="0">
              <a:buNone/>
            </a:pPr>
            <a:r>
              <a:rPr lang="en-US" sz="1200" dirty="0">
                <a:solidFill>
                  <a:srgbClr val="E9E6DF"/>
                </a:solidFill>
                <a:latin typeface="Calibri" pitchFamily="34" charset="0"/>
                <a:ea typeface="Calibri" pitchFamily="34" charset="-122"/>
                <a:cs typeface="Calibri" pitchFamily="34" charset="-120"/>
              </a:rPr>
              <a:t>77.8%</a:t>
            </a:r>
            <a:endParaRPr lang="en-US" sz="1200" dirty="0"/>
          </a:p>
        </p:txBody>
      </p:sp>
      <p:sp>
        <p:nvSpPr>
          <p:cNvPr id="32" name="Shape 30"/>
          <p:cNvSpPr/>
          <p:nvPr/>
        </p:nvSpPr>
        <p:spPr>
          <a:xfrm>
            <a:off x="6400800" y="1719072"/>
            <a:ext cx="5486400" cy="329184"/>
          </a:xfrm>
          <a:prstGeom prst="rect">
            <a:avLst/>
          </a:prstGeom>
          <a:solidFill>
            <a:srgbClr val="0D0D0D"/>
          </a:solidFill>
          <a:ln w="12700">
            <a:solidFill>
              <a:srgbClr val="1A1A1A"/>
            </a:solidFill>
            <a:prstDash val="solid"/>
          </a:ln>
        </p:spPr>
      </p:sp>
      <p:sp>
        <p:nvSpPr>
          <p:cNvPr id="33" name="Text 31"/>
          <p:cNvSpPr/>
          <p:nvPr/>
        </p:nvSpPr>
        <p:spPr>
          <a:xfrm>
            <a:off x="6537960" y="1755648"/>
            <a:ext cx="3657600" cy="256032"/>
          </a:xfrm>
          <a:prstGeom prst="rect">
            <a:avLst/>
          </a:prstGeom>
          <a:noFill/>
          <a:ln/>
        </p:spPr>
        <p:txBody>
          <a:bodyPr wrap="square" lIns="0" tIns="0" rIns="0" bIns="0" rtlCol="0" anchor="ctr"/>
          <a:lstStyle/>
          <a:p>
            <a:pPr algn="l" indent="0" marL="0">
              <a:buNone/>
            </a:pPr>
            <a:r>
              <a:rPr lang="en-US" sz="1200" dirty="0">
                <a:solidFill>
                  <a:srgbClr val="E9E6DF"/>
                </a:solidFill>
                <a:latin typeface="Calibri" pitchFamily="34" charset="0"/>
                <a:ea typeface="Calibri" pitchFamily="34" charset="-122"/>
                <a:cs typeface="Calibri" pitchFamily="34" charset="-120"/>
              </a:rPr>
              <a:t>q10  Racial equality</a:t>
            </a:r>
            <a:endParaRPr lang="en-US" sz="1200" dirty="0"/>
          </a:p>
        </p:txBody>
      </p:sp>
      <p:sp>
        <p:nvSpPr>
          <p:cNvPr id="34" name="Text 32"/>
          <p:cNvSpPr/>
          <p:nvPr/>
        </p:nvSpPr>
        <p:spPr>
          <a:xfrm>
            <a:off x="10058400" y="1755648"/>
            <a:ext cx="1828800" cy="256032"/>
          </a:xfrm>
          <a:prstGeom prst="rect">
            <a:avLst/>
          </a:prstGeom>
          <a:noFill/>
          <a:ln/>
        </p:spPr>
        <p:txBody>
          <a:bodyPr wrap="square" lIns="0" tIns="0" rIns="0" bIns="0" rtlCol="0" anchor="ctr"/>
          <a:lstStyle/>
          <a:p>
            <a:pPr algn="r" indent="0" marL="0">
              <a:buNone/>
            </a:pPr>
            <a:r>
              <a:rPr lang="en-US" sz="1200" b="1" dirty="0">
                <a:solidFill>
                  <a:srgbClr val="A8FF3E"/>
                </a:solidFill>
                <a:latin typeface="Calibri" pitchFamily="34" charset="0"/>
                <a:ea typeface="Calibri" pitchFamily="34" charset="-122"/>
                <a:cs typeface="Calibri" pitchFamily="34" charset="-120"/>
              </a:rPr>
              <a:t>97.7%  ★ BEST</a:t>
            </a:r>
            <a:endParaRPr lang="en-US" sz="1200" dirty="0"/>
          </a:p>
        </p:txBody>
      </p:sp>
      <p:sp>
        <p:nvSpPr>
          <p:cNvPr id="35" name="Shape 33"/>
          <p:cNvSpPr/>
          <p:nvPr/>
        </p:nvSpPr>
        <p:spPr>
          <a:xfrm>
            <a:off x="6400800" y="2066544"/>
            <a:ext cx="5486400" cy="329184"/>
          </a:xfrm>
          <a:prstGeom prst="rect">
            <a:avLst/>
          </a:prstGeom>
          <a:solidFill>
            <a:srgbClr val="111111"/>
          </a:solidFill>
          <a:ln w="12700">
            <a:solidFill>
              <a:srgbClr val="1A1A1A"/>
            </a:solidFill>
            <a:prstDash val="solid"/>
          </a:ln>
        </p:spPr>
      </p:sp>
      <p:sp>
        <p:nvSpPr>
          <p:cNvPr id="36" name="Text 34"/>
          <p:cNvSpPr/>
          <p:nvPr/>
        </p:nvSpPr>
        <p:spPr>
          <a:xfrm>
            <a:off x="6537960" y="2103120"/>
            <a:ext cx="3657600" cy="256032"/>
          </a:xfrm>
          <a:prstGeom prst="rect">
            <a:avLst/>
          </a:prstGeom>
          <a:noFill/>
          <a:ln/>
        </p:spPr>
        <p:txBody>
          <a:bodyPr wrap="square" lIns="0" tIns="0" rIns="0" bIns="0" rtlCol="0" anchor="ctr"/>
          <a:lstStyle/>
          <a:p>
            <a:pPr algn="l" indent="0" marL="0">
              <a:buNone/>
            </a:pPr>
            <a:r>
              <a:rPr lang="en-US" sz="1200" dirty="0">
                <a:solidFill>
                  <a:srgbClr val="E9E6DF"/>
                </a:solidFill>
                <a:latin typeface="Calibri" pitchFamily="34" charset="0"/>
                <a:ea typeface="Calibri" pitchFamily="34" charset="-122"/>
                <a:cs typeface="Calibri" pitchFamily="34" charset="-120"/>
              </a:rPr>
              <a:t>q11  Healthcare</a:t>
            </a:r>
            <a:endParaRPr lang="en-US" sz="1200" dirty="0"/>
          </a:p>
        </p:txBody>
      </p:sp>
      <p:sp>
        <p:nvSpPr>
          <p:cNvPr id="37" name="Text 35"/>
          <p:cNvSpPr/>
          <p:nvPr/>
        </p:nvSpPr>
        <p:spPr>
          <a:xfrm>
            <a:off x="10058400" y="2103120"/>
            <a:ext cx="1828800" cy="256032"/>
          </a:xfrm>
          <a:prstGeom prst="rect">
            <a:avLst/>
          </a:prstGeom>
          <a:noFill/>
          <a:ln/>
        </p:spPr>
        <p:txBody>
          <a:bodyPr wrap="square" lIns="0" tIns="0" rIns="0" bIns="0" rtlCol="0" anchor="ctr"/>
          <a:lstStyle/>
          <a:p>
            <a:pPr algn="r" indent="0" marL="0">
              <a:buNone/>
            </a:pPr>
            <a:r>
              <a:rPr lang="en-US" sz="1200" b="1" dirty="0">
                <a:solidFill>
                  <a:srgbClr val="A8FF3E"/>
                </a:solidFill>
                <a:latin typeface="Calibri" pitchFamily="34" charset="0"/>
                <a:ea typeface="Calibri" pitchFamily="34" charset="-122"/>
                <a:cs typeface="Calibri" pitchFamily="34" charset="-120"/>
              </a:rPr>
              <a:t>93.9%</a:t>
            </a:r>
            <a:endParaRPr lang="en-US" sz="1200" dirty="0"/>
          </a:p>
        </p:txBody>
      </p:sp>
      <p:sp>
        <p:nvSpPr>
          <p:cNvPr id="38" name="Shape 36"/>
          <p:cNvSpPr/>
          <p:nvPr/>
        </p:nvSpPr>
        <p:spPr>
          <a:xfrm>
            <a:off x="6400800" y="2414016"/>
            <a:ext cx="5486400" cy="329184"/>
          </a:xfrm>
          <a:prstGeom prst="rect">
            <a:avLst/>
          </a:prstGeom>
          <a:solidFill>
            <a:srgbClr val="0D0D0D"/>
          </a:solidFill>
          <a:ln w="12700">
            <a:solidFill>
              <a:srgbClr val="1A1A1A"/>
            </a:solidFill>
            <a:prstDash val="solid"/>
          </a:ln>
        </p:spPr>
      </p:sp>
      <p:sp>
        <p:nvSpPr>
          <p:cNvPr id="39" name="Text 37"/>
          <p:cNvSpPr/>
          <p:nvPr/>
        </p:nvSpPr>
        <p:spPr>
          <a:xfrm>
            <a:off x="6537960" y="2450592"/>
            <a:ext cx="3657600" cy="256032"/>
          </a:xfrm>
          <a:prstGeom prst="rect">
            <a:avLst/>
          </a:prstGeom>
          <a:noFill/>
          <a:ln/>
        </p:spPr>
        <p:txBody>
          <a:bodyPr wrap="square" lIns="0" tIns="0" rIns="0" bIns="0" rtlCol="0" anchor="ctr"/>
          <a:lstStyle/>
          <a:p>
            <a:pPr algn="l" indent="0" marL="0">
              <a:buNone/>
            </a:pPr>
            <a:r>
              <a:rPr lang="en-US" sz="1200" dirty="0">
                <a:solidFill>
                  <a:srgbClr val="E9E6DF"/>
                </a:solidFill>
                <a:latin typeface="Calibri" pitchFamily="34" charset="0"/>
                <a:ea typeface="Calibri" pitchFamily="34" charset="-122"/>
                <a:cs typeface="Calibri" pitchFamily="34" charset="-120"/>
              </a:rPr>
              <a:t>q12  Democracy satisfaction</a:t>
            </a:r>
            <a:endParaRPr lang="en-US" sz="1200" dirty="0"/>
          </a:p>
        </p:txBody>
      </p:sp>
      <p:sp>
        <p:nvSpPr>
          <p:cNvPr id="40" name="Text 38"/>
          <p:cNvSpPr/>
          <p:nvPr/>
        </p:nvSpPr>
        <p:spPr>
          <a:xfrm>
            <a:off x="10058400" y="2450592"/>
            <a:ext cx="1828800" cy="256032"/>
          </a:xfrm>
          <a:prstGeom prst="rect">
            <a:avLst/>
          </a:prstGeom>
          <a:noFill/>
          <a:ln/>
        </p:spPr>
        <p:txBody>
          <a:bodyPr wrap="square" lIns="0" tIns="0" rIns="0" bIns="0" rtlCol="0" anchor="ctr"/>
          <a:lstStyle/>
          <a:p>
            <a:pPr algn="r" indent="0" marL="0">
              <a:buNone/>
            </a:pPr>
            <a:r>
              <a:rPr lang="en-US" sz="1200" dirty="0">
                <a:solidFill>
                  <a:srgbClr val="E9E6DF"/>
                </a:solidFill>
                <a:latin typeface="Calibri" pitchFamily="34" charset="0"/>
                <a:ea typeface="Calibri" pitchFamily="34" charset="-122"/>
                <a:cs typeface="Calibri" pitchFamily="34" charset="-120"/>
              </a:rPr>
              <a:t>83.3%</a:t>
            </a:r>
            <a:endParaRPr lang="en-US" sz="1200" dirty="0"/>
          </a:p>
        </p:txBody>
      </p:sp>
      <p:sp>
        <p:nvSpPr>
          <p:cNvPr id="41" name="Shape 39"/>
          <p:cNvSpPr/>
          <p:nvPr/>
        </p:nvSpPr>
        <p:spPr>
          <a:xfrm>
            <a:off x="6400800" y="2761488"/>
            <a:ext cx="5486400" cy="329184"/>
          </a:xfrm>
          <a:prstGeom prst="rect">
            <a:avLst/>
          </a:prstGeom>
          <a:solidFill>
            <a:srgbClr val="111111"/>
          </a:solidFill>
          <a:ln w="12700">
            <a:solidFill>
              <a:srgbClr val="1A1A1A"/>
            </a:solidFill>
            <a:prstDash val="solid"/>
          </a:ln>
        </p:spPr>
      </p:sp>
      <p:sp>
        <p:nvSpPr>
          <p:cNvPr id="42" name="Text 40"/>
          <p:cNvSpPr/>
          <p:nvPr/>
        </p:nvSpPr>
        <p:spPr>
          <a:xfrm>
            <a:off x="6537960" y="2798064"/>
            <a:ext cx="3657600" cy="256032"/>
          </a:xfrm>
          <a:prstGeom prst="rect">
            <a:avLst/>
          </a:prstGeom>
          <a:noFill/>
          <a:ln/>
        </p:spPr>
        <p:txBody>
          <a:bodyPr wrap="square" lIns="0" tIns="0" rIns="0" bIns="0" rtlCol="0" anchor="ctr"/>
          <a:lstStyle/>
          <a:p>
            <a:pPr algn="l" indent="0" marL="0">
              <a:buNone/>
            </a:pPr>
            <a:r>
              <a:rPr lang="en-US" sz="1200" dirty="0">
                <a:solidFill>
                  <a:srgbClr val="E9E6DF"/>
                </a:solidFill>
                <a:latin typeface="Calibri" pitchFamily="34" charset="0"/>
                <a:ea typeface="Calibri" pitchFamily="34" charset="-122"/>
                <a:cs typeface="Calibri" pitchFamily="34" charset="-120"/>
              </a:rPr>
              <a:t>q13  Media trust</a:t>
            </a:r>
            <a:endParaRPr lang="en-US" sz="1200" dirty="0"/>
          </a:p>
        </p:txBody>
      </p:sp>
      <p:sp>
        <p:nvSpPr>
          <p:cNvPr id="43" name="Text 41"/>
          <p:cNvSpPr/>
          <p:nvPr/>
        </p:nvSpPr>
        <p:spPr>
          <a:xfrm>
            <a:off x="10058400" y="2798064"/>
            <a:ext cx="1828800" cy="256032"/>
          </a:xfrm>
          <a:prstGeom prst="rect">
            <a:avLst/>
          </a:prstGeom>
          <a:noFill/>
          <a:ln/>
        </p:spPr>
        <p:txBody>
          <a:bodyPr wrap="square" lIns="0" tIns="0" rIns="0" bIns="0" rtlCol="0" anchor="ctr"/>
          <a:lstStyle/>
          <a:p>
            <a:pPr algn="r" indent="0" marL="0">
              <a:buNone/>
            </a:pPr>
            <a:r>
              <a:rPr lang="en-US" sz="1200" dirty="0">
                <a:solidFill>
                  <a:srgbClr val="E9E6DF"/>
                </a:solidFill>
                <a:latin typeface="Calibri" pitchFamily="34" charset="0"/>
                <a:ea typeface="Calibri" pitchFamily="34" charset="-122"/>
                <a:cs typeface="Calibri" pitchFamily="34" charset="-120"/>
              </a:rPr>
              <a:t>80.5%  ↑ B-10 fix</a:t>
            </a:r>
            <a:endParaRPr lang="en-US" sz="1200" dirty="0"/>
          </a:p>
        </p:txBody>
      </p:sp>
      <p:sp>
        <p:nvSpPr>
          <p:cNvPr id="44" name="Shape 42"/>
          <p:cNvSpPr/>
          <p:nvPr/>
        </p:nvSpPr>
        <p:spPr>
          <a:xfrm>
            <a:off x="6400800" y="3108960"/>
            <a:ext cx="5486400" cy="329184"/>
          </a:xfrm>
          <a:prstGeom prst="rect">
            <a:avLst/>
          </a:prstGeom>
          <a:solidFill>
            <a:srgbClr val="0D0D0D"/>
          </a:solidFill>
          <a:ln w="12700">
            <a:solidFill>
              <a:srgbClr val="1A1A1A"/>
            </a:solidFill>
            <a:prstDash val="solid"/>
          </a:ln>
        </p:spPr>
      </p:sp>
      <p:sp>
        <p:nvSpPr>
          <p:cNvPr id="45" name="Text 43"/>
          <p:cNvSpPr/>
          <p:nvPr/>
        </p:nvSpPr>
        <p:spPr>
          <a:xfrm>
            <a:off x="6537960" y="3145536"/>
            <a:ext cx="3657600" cy="256032"/>
          </a:xfrm>
          <a:prstGeom prst="rect">
            <a:avLst/>
          </a:prstGeom>
          <a:noFill/>
          <a:ln/>
        </p:spPr>
        <p:txBody>
          <a:bodyPr wrap="square" lIns="0" tIns="0" rIns="0" bIns="0" rtlCol="0" anchor="ctr"/>
          <a:lstStyle/>
          <a:p>
            <a:pPr algn="l" indent="0" marL="0">
              <a:buNone/>
            </a:pPr>
            <a:r>
              <a:rPr lang="en-US" sz="1200" dirty="0">
                <a:solidFill>
                  <a:srgbClr val="E9E6DF"/>
                </a:solidFill>
                <a:latin typeface="Calibri" pitchFamily="34" charset="0"/>
                <a:ea typeface="Calibri" pitchFamily="34" charset="-122"/>
                <a:cs typeface="Calibri" pitchFamily="34" charset="-120"/>
              </a:rPr>
              <a:t>q14  Technology</a:t>
            </a:r>
            <a:endParaRPr lang="en-US" sz="1200" dirty="0"/>
          </a:p>
        </p:txBody>
      </p:sp>
      <p:sp>
        <p:nvSpPr>
          <p:cNvPr id="46" name="Text 44"/>
          <p:cNvSpPr/>
          <p:nvPr/>
        </p:nvSpPr>
        <p:spPr>
          <a:xfrm>
            <a:off x="10058400" y="3145536"/>
            <a:ext cx="1828800" cy="256032"/>
          </a:xfrm>
          <a:prstGeom prst="rect">
            <a:avLst/>
          </a:prstGeom>
          <a:noFill/>
          <a:ln/>
        </p:spPr>
        <p:txBody>
          <a:bodyPr wrap="square" lIns="0" tIns="0" rIns="0" bIns="0" rtlCol="0" anchor="ctr"/>
          <a:lstStyle/>
          <a:p>
            <a:pPr algn="r" indent="0" marL="0">
              <a:buNone/>
            </a:pPr>
            <a:r>
              <a:rPr lang="en-US" sz="1200" dirty="0">
                <a:solidFill>
                  <a:srgbClr val="E9E6DF"/>
                </a:solidFill>
                <a:latin typeface="Calibri" pitchFamily="34" charset="0"/>
                <a:ea typeface="Calibri" pitchFamily="34" charset="-122"/>
                <a:cs typeface="Calibri" pitchFamily="34" charset="-120"/>
              </a:rPr>
              <a:t>83.8%</a:t>
            </a:r>
            <a:endParaRPr lang="en-US" sz="1200" dirty="0"/>
          </a:p>
        </p:txBody>
      </p:sp>
      <p:sp>
        <p:nvSpPr>
          <p:cNvPr id="47" name="Shape 45"/>
          <p:cNvSpPr/>
          <p:nvPr/>
        </p:nvSpPr>
        <p:spPr>
          <a:xfrm>
            <a:off x="6400800" y="3456432"/>
            <a:ext cx="5486400" cy="329184"/>
          </a:xfrm>
          <a:prstGeom prst="rect">
            <a:avLst/>
          </a:prstGeom>
          <a:solidFill>
            <a:srgbClr val="111111"/>
          </a:solidFill>
          <a:ln w="12700">
            <a:solidFill>
              <a:srgbClr val="1A1A1A"/>
            </a:solidFill>
            <a:prstDash val="solid"/>
          </a:ln>
        </p:spPr>
      </p:sp>
      <p:sp>
        <p:nvSpPr>
          <p:cNvPr id="48" name="Text 46"/>
          <p:cNvSpPr/>
          <p:nvPr/>
        </p:nvSpPr>
        <p:spPr>
          <a:xfrm>
            <a:off x="6537960" y="3493008"/>
            <a:ext cx="3657600" cy="256032"/>
          </a:xfrm>
          <a:prstGeom prst="rect">
            <a:avLst/>
          </a:prstGeom>
          <a:noFill/>
          <a:ln/>
        </p:spPr>
        <p:txBody>
          <a:bodyPr wrap="square" lIns="0" tIns="0" rIns="0" bIns="0" rtlCol="0" anchor="ctr"/>
          <a:lstStyle/>
          <a:p>
            <a:pPr algn="l" indent="0" marL="0">
              <a:buNone/>
            </a:pPr>
            <a:r>
              <a:rPr lang="en-US" sz="1200" dirty="0">
                <a:solidFill>
                  <a:srgbClr val="E9E6DF"/>
                </a:solidFill>
                <a:latin typeface="Calibri" pitchFamily="34" charset="0"/>
                <a:ea typeface="Calibri" pitchFamily="34" charset="-122"/>
                <a:cs typeface="Calibri" pitchFamily="34" charset="-120"/>
              </a:rPr>
              <a:t>q15  Financial security</a:t>
            </a:r>
            <a:endParaRPr lang="en-US" sz="1200" dirty="0"/>
          </a:p>
        </p:txBody>
      </p:sp>
      <p:sp>
        <p:nvSpPr>
          <p:cNvPr id="49" name="Text 47"/>
          <p:cNvSpPr/>
          <p:nvPr/>
        </p:nvSpPr>
        <p:spPr>
          <a:xfrm>
            <a:off x="10058400" y="3493008"/>
            <a:ext cx="1828800" cy="256032"/>
          </a:xfrm>
          <a:prstGeom prst="rect">
            <a:avLst/>
          </a:prstGeom>
          <a:noFill/>
          <a:ln/>
        </p:spPr>
        <p:txBody>
          <a:bodyPr wrap="square" lIns="0" tIns="0" rIns="0" bIns="0" rtlCol="0" anchor="ctr"/>
          <a:lstStyle/>
          <a:p>
            <a:pPr algn="r" indent="0" marL="0">
              <a:buNone/>
            </a:pPr>
            <a:r>
              <a:rPr lang="en-US" sz="1200" dirty="0">
                <a:solidFill>
                  <a:srgbClr val="E9E6DF"/>
                </a:solidFill>
                <a:latin typeface="Calibri" pitchFamily="34" charset="0"/>
                <a:ea typeface="Calibri" pitchFamily="34" charset="-122"/>
                <a:cs typeface="Calibri" pitchFamily="34" charset="-120"/>
              </a:rPr>
              <a:t>85.0%</a:t>
            </a:r>
            <a:endParaRPr lang="en-US" sz="1200" dirty="0"/>
          </a:p>
        </p:txBody>
      </p:sp>
      <p:sp>
        <p:nvSpPr>
          <p:cNvPr id="50" name="Text 48"/>
          <p:cNvSpPr/>
          <p:nvPr/>
        </p:nvSpPr>
        <p:spPr>
          <a:xfrm>
            <a:off x="502920" y="6355080"/>
            <a:ext cx="11155680" cy="320040"/>
          </a:xfrm>
          <a:prstGeom prst="rect">
            <a:avLst/>
          </a:prstGeom>
          <a:noFill/>
          <a:ln/>
        </p:spPr>
        <p:txBody>
          <a:bodyPr wrap="square"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Mean distribution accuracy: 86.9% raw  /  88.7% cohort-adjusted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502920" y="411480"/>
            <a:ext cx="54864" cy="502920"/>
          </a:xfrm>
          <a:prstGeom prst="rect">
            <a:avLst/>
          </a:prstGeom>
          <a:solidFill>
            <a:srgbClr val="A8FF3E"/>
          </a:solidFill>
          <a:ln w="12700">
            <a:solidFill>
              <a:srgbClr val="A8FF3E"/>
            </a:solidFill>
            <a:prstDash val="solid"/>
          </a:ln>
        </p:spPr>
      </p:sp>
      <p:sp>
        <p:nvSpPr>
          <p:cNvPr id="3" name="Text 1"/>
          <p:cNvSpPr/>
          <p:nvPr/>
        </p:nvSpPr>
        <p:spPr>
          <a:xfrm>
            <a:off x="685800" y="384048"/>
            <a:ext cx="10515600" cy="548640"/>
          </a:xfrm>
          <a:prstGeom prst="rect">
            <a:avLst/>
          </a:prstGeom>
          <a:noFill/>
          <a:ln/>
        </p:spPr>
        <p:txBody>
          <a:bodyPr wrap="square" rtlCol="0" anchor="ctr"/>
          <a:lstStyle/>
          <a:p>
            <a:pPr algn="l" indent="0" marL="0">
              <a:buNone/>
            </a:pPr>
            <a:r>
              <a:rPr lang="en-US" sz="2800" b="1" dirty="0">
                <a:solidFill>
                  <a:srgbClr val="E9E6DF"/>
                </a:solidFill>
                <a:latin typeface="Calibri" pitchFamily="34" charset="0"/>
                <a:ea typeface="Calibri" pitchFamily="34" charset="-122"/>
                <a:cs typeface="Calibri" pitchFamily="34" charset="-120"/>
              </a:rPr>
              <a:t>CoreMemory architecture</a:t>
            </a:r>
            <a:endParaRPr lang="en-US" sz="2800" dirty="0"/>
          </a:p>
        </p:txBody>
      </p:sp>
      <p:sp>
        <p:nvSpPr>
          <p:cNvPr id="4" name="Text 2"/>
          <p:cNvSpPr/>
          <p:nvPr/>
        </p:nvSpPr>
        <p:spPr>
          <a:xfrm>
            <a:off x="685800" y="932688"/>
            <a:ext cx="10515600" cy="320040"/>
          </a:xfrm>
          <a:prstGeom prst="rect">
            <a:avLst/>
          </a:prstGeom>
          <a:noFill/>
          <a:ln/>
        </p:spPr>
        <p:txBody>
          <a:bodyPr wrap="square" rtlCol="0" anchor="ctr"/>
          <a:lstStyle/>
          <a:p>
            <a:pPr algn="l" indent="0" marL="0">
              <a:buNone/>
            </a:pPr>
            <a:r>
              <a:rPr lang="en-US" sz="1300" dirty="0">
                <a:solidFill>
                  <a:srgbClr val="8A8A8A"/>
                </a:solidFill>
                <a:latin typeface="Calibri" pitchFamily="34" charset="0"/>
                <a:ea typeface="Calibri" pitchFamily="34" charset="-122"/>
                <a:cs typeface="Calibri" pitchFamily="34" charset="-120"/>
              </a:rPr>
              <a:t>The infrastructure behind simulation fidelity</a:t>
            </a:r>
            <a:endParaRPr lang="en-US" sz="1300" dirty="0"/>
          </a:p>
        </p:txBody>
      </p:sp>
      <p:sp>
        <p:nvSpPr>
          <p:cNvPr id="5" name="Shape 3"/>
          <p:cNvSpPr/>
          <p:nvPr/>
        </p:nvSpPr>
        <p:spPr>
          <a:xfrm>
            <a:off x="502920" y="1417320"/>
            <a:ext cx="2606040" cy="2286000"/>
          </a:xfrm>
          <a:prstGeom prst="rect">
            <a:avLst/>
          </a:prstGeom>
          <a:solidFill>
            <a:srgbClr val="111111"/>
          </a:solidFill>
          <a:ln w="12700">
            <a:solidFill>
              <a:srgbClr val="272727"/>
            </a:solidFill>
            <a:prstDash val="solid"/>
          </a:ln>
        </p:spPr>
      </p:sp>
      <p:sp>
        <p:nvSpPr>
          <p:cNvPr id="6" name="Shape 4"/>
          <p:cNvSpPr/>
          <p:nvPr/>
        </p:nvSpPr>
        <p:spPr>
          <a:xfrm>
            <a:off x="502920" y="1417320"/>
            <a:ext cx="2606040" cy="45720"/>
          </a:xfrm>
          <a:prstGeom prst="rect">
            <a:avLst/>
          </a:prstGeom>
          <a:solidFill>
            <a:srgbClr val="A8FF3E"/>
          </a:solidFill>
          <a:ln w="12700">
            <a:solidFill>
              <a:srgbClr val="A8FF3E"/>
            </a:solidFill>
            <a:prstDash val="solid"/>
          </a:ln>
        </p:spPr>
      </p:sp>
      <p:sp>
        <p:nvSpPr>
          <p:cNvPr id="7" name="Shape 5"/>
          <p:cNvSpPr/>
          <p:nvPr/>
        </p:nvSpPr>
        <p:spPr>
          <a:xfrm>
            <a:off x="640080" y="1600200"/>
            <a:ext cx="320040" cy="320040"/>
          </a:xfrm>
          <a:prstGeom prst="rect">
            <a:avLst/>
          </a:prstGeom>
          <a:solidFill>
            <a:srgbClr val="A8FF3E"/>
          </a:solidFill>
          <a:ln w="12700">
            <a:solidFill>
              <a:srgbClr val="A8FF3E"/>
            </a:solidFill>
            <a:prstDash val="solid"/>
          </a:ln>
        </p:spPr>
      </p:sp>
      <p:sp>
        <p:nvSpPr>
          <p:cNvPr id="8" name="Text 6"/>
          <p:cNvSpPr/>
          <p:nvPr/>
        </p:nvSpPr>
        <p:spPr>
          <a:xfrm>
            <a:off x="640080" y="1600200"/>
            <a:ext cx="320040" cy="320040"/>
          </a:xfrm>
          <a:prstGeom prst="rect">
            <a:avLst/>
          </a:prstGeom>
          <a:noFill/>
          <a:ln/>
        </p:spPr>
        <p:txBody>
          <a:bodyPr wrap="square" lIns="0" tIns="0" rIns="0" bIns="0" rtlCol="0" anchor="ctr"/>
          <a:lstStyle/>
          <a:p>
            <a:pPr algn="ctr" indent="0" marL="0">
              <a:buNone/>
            </a:pPr>
            <a:r>
              <a:rPr lang="en-US" sz="1300" b="1" dirty="0">
                <a:solidFill>
                  <a:srgbClr val="050505"/>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640080" y="2039112"/>
            <a:ext cx="2331720" cy="457200"/>
          </a:xfrm>
          <a:prstGeom prst="rect">
            <a:avLst/>
          </a:prstGeom>
          <a:noFill/>
          <a:ln/>
        </p:spPr>
        <p:txBody>
          <a:bodyPr wrap="square" lIns="0" tIns="0" rIns="0" bIns="0" rtlCol="0" anchor="ctr"/>
          <a:lstStyle/>
          <a:p>
            <a:pPr algn="l" indent="0" marL="0">
              <a:buNone/>
            </a:pPr>
            <a:r>
              <a:rPr lang="en-US" sz="1400" b="1" dirty="0">
                <a:solidFill>
                  <a:srgbClr val="E9E6DF"/>
                </a:solidFill>
                <a:latin typeface="Calibri" pitchFamily="34" charset="0"/>
                <a:ea typeface="Calibri" pitchFamily="34" charset="-122"/>
                <a:cs typeface="Calibri" pitchFamily="34" charset="-120"/>
              </a:rPr>
              <a:t>Political era isolation</a:t>
            </a:r>
            <a:endParaRPr lang="en-US" sz="1400" dirty="0"/>
          </a:p>
        </p:txBody>
      </p:sp>
      <p:sp>
        <p:nvSpPr>
          <p:cNvPr id="10" name="Text 8"/>
          <p:cNvSpPr/>
          <p:nvPr/>
        </p:nvSpPr>
        <p:spPr>
          <a:xfrm>
            <a:off x="640080" y="2514600"/>
            <a:ext cx="2331720" cy="1005840"/>
          </a:xfrm>
          <a:prstGeom prst="rect">
            <a:avLst/>
          </a:prstGeom>
          <a:noFill/>
          <a:ln/>
        </p:spPr>
        <p:txBody>
          <a:bodyPr wrap="square" lIns="0" tIns="0" rIns="0" bIns="0" rtlCol="0" anchor="ctr"/>
          <a:lstStyle/>
          <a:p>
            <a:pPr algn="l" indent="0" marL="0">
              <a:buNone/>
            </a:pPr>
            <a:r>
              <a:rPr lang="en-US" sz="1200" dirty="0">
                <a:solidFill>
                  <a:srgbClr val="8A8A8A"/>
                </a:solidFill>
                <a:latin typeface="Calibri" pitchFamily="34" charset="0"/>
                <a:ea typeface="Calibri" pitchFamily="34" charset="-122"/>
                <a:cs typeface="Calibri" pitchFamily="34" charset="-120"/>
              </a:rPr>
              <a:t>Current conditions stance kept in dedicated field, not mixed with values</a:t>
            </a:r>
            <a:endParaRPr lang="en-US" sz="1200" dirty="0"/>
          </a:p>
        </p:txBody>
      </p:sp>
      <p:sp>
        <p:nvSpPr>
          <p:cNvPr id="11" name="Shape 9"/>
          <p:cNvSpPr/>
          <p:nvPr/>
        </p:nvSpPr>
        <p:spPr>
          <a:xfrm>
            <a:off x="3337560" y="1417320"/>
            <a:ext cx="2606040" cy="2286000"/>
          </a:xfrm>
          <a:prstGeom prst="rect">
            <a:avLst/>
          </a:prstGeom>
          <a:solidFill>
            <a:srgbClr val="111111"/>
          </a:solidFill>
          <a:ln w="12700">
            <a:solidFill>
              <a:srgbClr val="272727"/>
            </a:solidFill>
            <a:prstDash val="solid"/>
          </a:ln>
        </p:spPr>
      </p:sp>
      <p:sp>
        <p:nvSpPr>
          <p:cNvPr id="12" name="Shape 10"/>
          <p:cNvSpPr/>
          <p:nvPr/>
        </p:nvSpPr>
        <p:spPr>
          <a:xfrm>
            <a:off x="3337560" y="1417320"/>
            <a:ext cx="2606040" cy="45720"/>
          </a:xfrm>
          <a:prstGeom prst="rect">
            <a:avLst/>
          </a:prstGeom>
          <a:solidFill>
            <a:srgbClr val="A8FF3E"/>
          </a:solidFill>
          <a:ln w="12700">
            <a:solidFill>
              <a:srgbClr val="A8FF3E"/>
            </a:solidFill>
            <a:prstDash val="solid"/>
          </a:ln>
        </p:spPr>
      </p:sp>
      <p:sp>
        <p:nvSpPr>
          <p:cNvPr id="13" name="Shape 11"/>
          <p:cNvSpPr/>
          <p:nvPr/>
        </p:nvSpPr>
        <p:spPr>
          <a:xfrm>
            <a:off x="3474720" y="1600200"/>
            <a:ext cx="320040" cy="320040"/>
          </a:xfrm>
          <a:prstGeom prst="rect">
            <a:avLst/>
          </a:prstGeom>
          <a:solidFill>
            <a:srgbClr val="A8FF3E"/>
          </a:solidFill>
          <a:ln w="12700">
            <a:solidFill>
              <a:srgbClr val="A8FF3E"/>
            </a:solidFill>
            <a:prstDash val="solid"/>
          </a:ln>
        </p:spPr>
      </p:sp>
      <p:sp>
        <p:nvSpPr>
          <p:cNvPr id="14" name="Text 12"/>
          <p:cNvSpPr/>
          <p:nvPr/>
        </p:nvSpPr>
        <p:spPr>
          <a:xfrm>
            <a:off x="3474720" y="1600200"/>
            <a:ext cx="320040" cy="320040"/>
          </a:xfrm>
          <a:prstGeom prst="rect">
            <a:avLst/>
          </a:prstGeom>
          <a:noFill/>
          <a:ln/>
        </p:spPr>
        <p:txBody>
          <a:bodyPr wrap="square" lIns="0" tIns="0" rIns="0" bIns="0" rtlCol="0" anchor="ctr"/>
          <a:lstStyle/>
          <a:p>
            <a:pPr algn="ctr" indent="0" marL="0">
              <a:buNone/>
            </a:pPr>
            <a:r>
              <a:rPr lang="en-US" sz="1300" b="1" dirty="0">
                <a:solidFill>
                  <a:srgbClr val="050505"/>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3474720" y="2039112"/>
            <a:ext cx="2331720" cy="457200"/>
          </a:xfrm>
          <a:prstGeom prst="rect">
            <a:avLst/>
          </a:prstGeom>
          <a:noFill/>
          <a:ln/>
        </p:spPr>
        <p:txBody>
          <a:bodyPr wrap="square" lIns="0" tIns="0" rIns="0" bIns="0" rtlCol="0" anchor="ctr"/>
          <a:lstStyle/>
          <a:p>
            <a:pPr algn="l" indent="0" marL="0">
              <a:buNone/>
            </a:pPr>
            <a:r>
              <a:rPr lang="en-US" sz="1400" b="1" dirty="0">
                <a:solidFill>
                  <a:srgbClr val="E9E6DF"/>
                </a:solidFill>
                <a:latin typeface="Calibri" pitchFamily="34" charset="0"/>
                <a:ea typeface="Calibri" pitchFamily="34" charset="-122"/>
                <a:cs typeface="Calibri" pitchFamily="34" charset="-120"/>
              </a:rPr>
              <a:t>Per-lean policy stances</a:t>
            </a:r>
            <a:endParaRPr lang="en-US" sz="1400" dirty="0"/>
          </a:p>
        </p:txBody>
      </p:sp>
      <p:sp>
        <p:nvSpPr>
          <p:cNvPr id="16" name="Text 14"/>
          <p:cNvSpPr/>
          <p:nvPr/>
        </p:nvSpPr>
        <p:spPr>
          <a:xfrm>
            <a:off x="3474720" y="2514600"/>
            <a:ext cx="2331720" cy="1005840"/>
          </a:xfrm>
          <a:prstGeom prst="rect">
            <a:avLst/>
          </a:prstGeom>
          <a:noFill/>
          <a:ln/>
        </p:spPr>
        <p:txBody>
          <a:bodyPr wrap="square" lIns="0" tIns="0" rIns="0" bIns="0" rtlCol="0" anchor="ctr"/>
          <a:lstStyle/>
          <a:p>
            <a:pPr algn="l" indent="0" marL="0">
              <a:buNone/>
            </a:pPr>
            <a:r>
              <a:rPr lang="en-US" sz="1200" dirty="0">
                <a:solidFill>
                  <a:srgbClr val="8A8A8A"/>
                </a:solidFill>
                <a:latin typeface="Calibri" pitchFamily="34" charset="0"/>
                <a:ea typeface="Calibri" pitchFamily="34" charset="-122"/>
                <a:cs typeface="Calibri" pitchFamily="34" charset="-120"/>
              </a:rPr>
              <a:t>6 political leans × topic-specific stance fields (climate, gun, immigration, abortion)</a:t>
            </a:r>
            <a:endParaRPr lang="en-US" sz="1200" dirty="0"/>
          </a:p>
        </p:txBody>
      </p:sp>
      <p:sp>
        <p:nvSpPr>
          <p:cNvPr id="17" name="Shape 15"/>
          <p:cNvSpPr/>
          <p:nvPr/>
        </p:nvSpPr>
        <p:spPr>
          <a:xfrm>
            <a:off x="6172200" y="1417320"/>
            <a:ext cx="2606040" cy="2286000"/>
          </a:xfrm>
          <a:prstGeom prst="rect">
            <a:avLst/>
          </a:prstGeom>
          <a:solidFill>
            <a:srgbClr val="111111"/>
          </a:solidFill>
          <a:ln w="12700">
            <a:solidFill>
              <a:srgbClr val="272727"/>
            </a:solidFill>
            <a:prstDash val="solid"/>
          </a:ln>
        </p:spPr>
      </p:sp>
      <p:sp>
        <p:nvSpPr>
          <p:cNvPr id="18" name="Shape 16"/>
          <p:cNvSpPr/>
          <p:nvPr/>
        </p:nvSpPr>
        <p:spPr>
          <a:xfrm>
            <a:off x="6172200" y="1417320"/>
            <a:ext cx="2606040" cy="45720"/>
          </a:xfrm>
          <a:prstGeom prst="rect">
            <a:avLst/>
          </a:prstGeom>
          <a:solidFill>
            <a:srgbClr val="A8FF3E"/>
          </a:solidFill>
          <a:ln w="12700">
            <a:solidFill>
              <a:srgbClr val="A8FF3E"/>
            </a:solidFill>
            <a:prstDash val="solid"/>
          </a:ln>
        </p:spPr>
      </p:sp>
      <p:sp>
        <p:nvSpPr>
          <p:cNvPr id="19" name="Shape 17"/>
          <p:cNvSpPr/>
          <p:nvPr/>
        </p:nvSpPr>
        <p:spPr>
          <a:xfrm>
            <a:off x="6309360" y="1600200"/>
            <a:ext cx="320040" cy="320040"/>
          </a:xfrm>
          <a:prstGeom prst="rect">
            <a:avLst/>
          </a:prstGeom>
          <a:solidFill>
            <a:srgbClr val="A8FF3E"/>
          </a:solidFill>
          <a:ln w="12700">
            <a:solidFill>
              <a:srgbClr val="A8FF3E"/>
            </a:solidFill>
            <a:prstDash val="solid"/>
          </a:ln>
        </p:spPr>
      </p:sp>
      <p:sp>
        <p:nvSpPr>
          <p:cNvPr id="20" name="Text 18"/>
          <p:cNvSpPr/>
          <p:nvPr/>
        </p:nvSpPr>
        <p:spPr>
          <a:xfrm>
            <a:off x="6309360" y="1600200"/>
            <a:ext cx="320040" cy="320040"/>
          </a:xfrm>
          <a:prstGeom prst="rect">
            <a:avLst/>
          </a:prstGeom>
          <a:noFill/>
          <a:ln/>
        </p:spPr>
        <p:txBody>
          <a:bodyPr wrap="square" lIns="0" tIns="0" rIns="0" bIns="0" rtlCol="0" anchor="ctr"/>
          <a:lstStyle/>
          <a:p>
            <a:pPr algn="ctr" indent="0" marL="0">
              <a:buNone/>
            </a:pPr>
            <a:r>
              <a:rPr lang="en-US" sz="1300" b="1" dirty="0">
                <a:solidFill>
                  <a:srgbClr val="050505"/>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6309360" y="2039112"/>
            <a:ext cx="2331720" cy="457200"/>
          </a:xfrm>
          <a:prstGeom prst="rect">
            <a:avLst/>
          </a:prstGeom>
          <a:noFill/>
          <a:ln/>
        </p:spPr>
        <p:txBody>
          <a:bodyPr wrap="square" lIns="0" tIns="0" rIns="0" bIns="0" rtlCol="0" anchor="ctr"/>
          <a:lstStyle/>
          <a:p>
            <a:pPr algn="l" indent="0" marL="0">
              <a:buNone/>
            </a:pPr>
            <a:r>
              <a:rPr lang="en-US" sz="1400" b="1" dirty="0">
                <a:solidFill>
                  <a:srgbClr val="E9E6DF"/>
                </a:solidFill>
                <a:latin typeface="Calibri" pitchFamily="34" charset="0"/>
                <a:ea typeface="Calibri" pitchFamily="34" charset="-122"/>
                <a:cs typeface="Calibri" pitchFamily="34" charset="-120"/>
              </a:rPr>
              <a:t>Labeled stance injection</a:t>
            </a:r>
            <a:endParaRPr lang="en-US" sz="1400" dirty="0"/>
          </a:p>
        </p:txBody>
      </p:sp>
      <p:sp>
        <p:nvSpPr>
          <p:cNvPr id="22" name="Text 20"/>
          <p:cNvSpPr/>
          <p:nvPr/>
        </p:nvSpPr>
        <p:spPr>
          <a:xfrm>
            <a:off x="6309360" y="2514600"/>
            <a:ext cx="2331720" cy="1005840"/>
          </a:xfrm>
          <a:prstGeom prst="rect">
            <a:avLst/>
          </a:prstGeom>
          <a:noFill/>
          <a:ln/>
        </p:spPr>
        <p:txBody>
          <a:bodyPr wrap="square" lIns="0" tIns="0" rIns="0" bIns="0" rtlCol="0" anchor="ctr"/>
          <a:lstStyle/>
          <a:p>
            <a:pPr algn="l" indent="0" marL="0">
              <a:buNone/>
            </a:pPr>
            <a:r>
              <a:rPr lang="en-US" sz="1200" dirty="0">
                <a:solidFill>
                  <a:srgbClr val="8A8A8A"/>
                </a:solidFill>
                <a:latin typeface="Calibri" pitchFamily="34" charset="0"/>
                <a:ea typeface="Calibri" pitchFamily="34" charset="-122"/>
                <a:cs typeface="Calibri" pitchFamily="34" charset="-120"/>
              </a:rPr>
              <a:t>Each stance field injected as a labeled line in the system prompt, not buried in free text</a:t>
            </a:r>
            <a:endParaRPr lang="en-US" sz="1200" dirty="0"/>
          </a:p>
        </p:txBody>
      </p:sp>
      <p:sp>
        <p:nvSpPr>
          <p:cNvPr id="23" name="Shape 21"/>
          <p:cNvSpPr/>
          <p:nvPr/>
        </p:nvSpPr>
        <p:spPr>
          <a:xfrm>
            <a:off x="9006840" y="1417320"/>
            <a:ext cx="2606040" cy="2286000"/>
          </a:xfrm>
          <a:prstGeom prst="rect">
            <a:avLst/>
          </a:prstGeom>
          <a:solidFill>
            <a:srgbClr val="111111"/>
          </a:solidFill>
          <a:ln w="12700">
            <a:solidFill>
              <a:srgbClr val="272727"/>
            </a:solidFill>
            <a:prstDash val="solid"/>
          </a:ln>
        </p:spPr>
      </p:sp>
      <p:sp>
        <p:nvSpPr>
          <p:cNvPr id="24" name="Shape 22"/>
          <p:cNvSpPr/>
          <p:nvPr/>
        </p:nvSpPr>
        <p:spPr>
          <a:xfrm>
            <a:off x="9006840" y="1417320"/>
            <a:ext cx="2606040" cy="45720"/>
          </a:xfrm>
          <a:prstGeom prst="rect">
            <a:avLst/>
          </a:prstGeom>
          <a:solidFill>
            <a:srgbClr val="A8FF3E"/>
          </a:solidFill>
          <a:ln w="12700">
            <a:solidFill>
              <a:srgbClr val="A8FF3E"/>
            </a:solidFill>
            <a:prstDash val="solid"/>
          </a:ln>
        </p:spPr>
      </p:sp>
      <p:sp>
        <p:nvSpPr>
          <p:cNvPr id="25" name="Shape 23"/>
          <p:cNvSpPr/>
          <p:nvPr/>
        </p:nvSpPr>
        <p:spPr>
          <a:xfrm>
            <a:off x="9144000" y="1600200"/>
            <a:ext cx="320040" cy="320040"/>
          </a:xfrm>
          <a:prstGeom prst="rect">
            <a:avLst/>
          </a:prstGeom>
          <a:solidFill>
            <a:srgbClr val="A8FF3E"/>
          </a:solidFill>
          <a:ln w="12700">
            <a:solidFill>
              <a:srgbClr val="A8FF3E"/>
            </a:solidFill>
            <a:prstDash val="solid"/>
          </a:ln>
        </p:spPr>
      </p:sp>
      <p:sp>
        <p:nvSpPr>
          <p:cNvPr id="26" name="Text 24"/>
          <p:cNvSpPr/>
          <p:nvPr/>
        </p:nvSpPr>
        <p:spPr>
          <a:xfrm>
            <a:off x="9144000" y="1600200"/>
            <a:ext cx="320040" cy="320040"/>
          </a:xfrm>
          <a:prstGeom prst="rect">
            <a:avLst/>
          </a:prstGeom>
          <a:noFill/>
          <a:ln/>
        </p:spPr>
        <p:txBody>
          <a:bodyPr wrap="square" lIns="0" tIns="0" rIns="0" bIns="0" rtlCol="0" anchor="ctr"/>
          <a:lstStyle/>
          <a:p>
            <a:pPr algn="ctr" indent="0" marL="0">
              <a:buNone/>
            </a:pPr>
            <a:r>
              <a:rPr lang="en-US" sz="1300" b="1" dirty="0">
                <a:solidFill>
                  <a:srgbClr val="050505"/>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9144000" y="2039112"/>
            <a:ext cx="2331720" cy="457200"/>
          </a:xfrm>
          <a:prstGeom prst="rect">
            <a:avLst/>
          </a:prstGeom>
          <a:noFill/>
          <a:ln/>
        </p:spPr>
        <p:txBody>
          <a:bodyPr wrap="square" lIns="0" tIns="0" rIns="0" bIns="0" rtlCol="0" anchor="ctr"/>
          <a:lstStyle/>
          <a:p>
            <a:pPr algn="l" indent="0" marL="0">
              <a:buNone/>
            </a:pPr>
            <a:r>
              <a:rPr lang="en-US" sz="1400" b="1" dirty="0">
                <a:solidFill>
                  <a:srgbClr val="E9E6DF"/>
                </a:solidFill>
                <a:latin typeface="Calibri" pitchFamily="34" charset="0"/>
                <a:ea typeface="Calibri" pitchFamily="34" charset="-122"/>
                <a:cs typeface="Calibri" pitchFamily="34" charset="-120"/>
              </a:rPr>
              <a:t>Option-vocabulary anchors</a:t>
            </a:r>
            <a:endParaRPr lang="en-US" sz="1400" dirty="0"/>
          </a:p>
        </p:txBody>
      </p:sp>
      <p:sp>
        <p:nvSpPr>
          <p:cNvPr id="28" name="Text 26"/>
          <p:cNvSpPr/>
          <p:nvPr/>
        </p:nvSpPr>
        <p:spPr>
          <a:xfrm>
            <a:off x="9144000" y="2514600"/>
            <a:ext cx="2331720" cy="1005840"/>
          </a:xfrm>
          <a:prstGeom prst="rect">
            <a:avLst/>
          </a:prstGeom>
          <a:noFill/>
          <a:ln/>
        </p:spPr>
        <p:txBody>
          <a:bodyPr wrap="square" lIns="0" tIns="0" rIns="0" bIns="0" rtlCol="0" anchor="ctr"/>
          <a:lstStyle/>
          <a:p>
            <a:pPr algn="l" indent="0" marL="0">
              <a:buNone/>
            </a:pPr>
            <a:r>
              <a:rPr lang="en-US" sz="1200" dirty="0">
                <a:solidFill>
                  <a:srgbClr val="8A8A8A"/>
                </a:solidFill>
                <a:latin typeface="Calibri" pitchFamily="34" charset="0"/>
                <a:ea typeface="Calibri" pitchFamily="34" charset="-122"/>
                <a:cs typeface="Calibri" pitchFamily="34" charset="-120"/>
              </a:rPr>
              <a:t>Stance language mirrors exact survey option text to guide model selection</a:t>
            </a:r>
            <a:endParaRPr lang="en-US" sz="1200" dirty="0"/>
          </a:p>
        </p:txBody>
      </p:sp>
      <p:sp>
        <p:nvSpPr>
          <p:cNvPr id="29" name="Text 27"/>
          <p:cNvSpPr/>
          <p:nvPr/>
        </p:nvSpPr>
        <p:spPr>
          <a:xfrm>
            <a:off x="502920" y="3977640"/>
            <a:ext cx="11155680" cy="457200"/>
          </a:xfrm>
          <a:prstGeom prst="rect">
            <a:avLst/>
          </a:prstGeom>
          <a:noFill/>
          <a:ln/>
        </p:spPr>
        <p:txBody>
          <a:bodyPr wrap="square" rtlCol="0" anchor="ctr"/>
          <a:lstStyle/>
          <a:p>
            <a:pPr algn="l" indent="0" marL="0">
              <a:buNone/>
            </a:pPr>
            <a:r>
              <a:rPr lang="en-US" sz="1200" dirty="0">
                <a:solidFill>
                  <a:srgbClr val="8A8A8A"/>
                </a:solidFill>
                <a:latin typeface="Calibri" pitchFamily="34" charset="0"/>
                <a:ea typeface="Calibri" pitchFamily="34" charset="-122"/>
                <a:cs typeface="Calibri" pitchFamily="34" charset="-120"/>
              </a:rPr>
              <a:t>60 personas generated by claude-sonnet-4-6.  Survey responses by claude-haiku-4-5-20251001.  Full methodology auditable at GitHub.</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502920" y="411480"/>
            <a:ext cx="54864" cy="502920"/>
          </a:xfrm>
          <a:prstGeom prst="rect">
            <a:avLst/>
          </a:prstGeom>
          <a:solidFill>
            <a:srgbClr val="A8FF3E"/>
          </a:solidFill>
          <a:ln w="12700">
            <a:solidFill>
              <a:srgbClr val="A8FF3E"/>
            </a:solidFill>
            <a:prstDash val="solid"/>
          </a:ln>
        </p:spPr>
      </p:sp>
      <p:sp>
        <p:nvSpPr>
          <p:cNvPr id="3" name="Text 1"/>
          <p:cNvSpPr/>
          <p:nvPr/>
        </p:nvSpPr>
        <p:spPr>
          <a:xfrm>
            <a:off x="685800" y="384048"/>
            <a:ext cx="10515600" cy="548640"/>
          </a:xfrm>
          <a:prstGeom prst="rect">
            <a:avLst/>
          </a:prstGeom>
          <a:noFill/>
          <a:ln/>
        </p:spPr>
        <p:txBody>
          <a:bodyPr wrap="square" rtlCol="0" anchor="ctr"/>
          <a:lstStyle/>
          <a:p>
            <a:pPr algn="l" indent="0" marL="0">
              <a:buNone/>
            </a:pPr>
            <a:r>
              <a:rPr lang="en-US" sz="3200" b="1" dirty="0">
                <a:solidFill>
                  <a:srgbClr val="E9E6DF"/>
                </a:solidFill>
                <a:latin typeface="Calibri" pitchFamily="34" charset="0"/>
                <a:ea typeface="Calibri" pitchFamily="34" charset="-122"/>
                <a:cs typeface="Calibri" pitchFamily="34" charset="-120"/>
              </a:rPr>
              <a:t>Use cases</a:t>
            </a:r>
            <a:endParaRPr lang="en-US" sz="3200" dirty="0"/>
          </a:p>
        </p:txBody>
      </p:sp>
      <p:sp>
        <p:nvSpPr>
          <p:cNvPr id="4" name="Shape 2"/>
          <p:cNvSpPr/>
          <p:nvPr/>
        </p:nvSpPr>
        <p:spPr>
          <a:xfrm>
            <a:off x="502920" y="1234440"/>
            <a:ext cx="3566160" cy="4389120"/>
          </a:xfrm>
          <a:prstGeom prst="rect">
            <a:avLst/>
          </a:prstGeom>
          <a:solidFill>
            <a:srgbClr val="111111"/>
          </a:solidFill>
          <a:ln w="12700">
            <a:solidFill>
              <a:srgbClr val="272727"/>
            </a:solidFill>
            <a:prstDash val="solid"/>
          </a:ln>
        </p:spPr>
      </p:sp>
      <p:sp>
        <p:nvSpPr>
          <p:cNvPr id="5" name="Shape 3"/>
          <p:cNvSpPr/>
          <p:nvPr/>
        </p:nvSpPr>
        <p:spPr>
          <a:xfrm>
            <a:off x="502920" y="1234440"/>
            <a:ext cx="3566160" cy="45720"/>
          </a:xfrm>
          <a:prstGeom prst="rect">
            <a:avLst/>
          </a:prstGeom>
          <a:solidFill>
            <a:srgbClr val="A8FF3E"/>
          </a:solidFill>
          <a:ln w="12700">
            <a:solidFill>
              <a:srgbClr val="A8FF3E"/>
            </a:solidFill>
            <a:prstDash val="solid"/>
          </a:ln>
        </p:spPr>
      </p:sp>
      <p:sp>
        <p:nvSpPr>
          <p:cNvPr id="6" name="Text 4"/>
          <p:cNvSpPr/>
          <p:nvPr/>
        </p:nvSpPr>
        <p:spPr>
          <a:xfrm>
            <a:off x="685800" y="1463040"/>
            <a:ext cx="3200400" cy="274320"/>
          </a:xfrm>
          <a:prstGeom prst="rect">
            <a:avLst/>
          </a:prstGeom>
          <a:noFill/>
          <a:ln/>
        </p:spPr>
        <p:txBody>
          <a:bodyPr wrap="square" lIns="0" tIns="0" rIns="0" bIns="0" rtlCol="0" anchor="ctr"/>
          <a:lstStyle/>
          <a:p>
            <a:pPr algn="l" indent="0" marL="0">
              <a:buNone/>
            </a:pPr>
            <a:r>
              <a:rPr lang="en-US" sz="900" b="1" spc="300" kern="0" dirty="0">
                <a:solidFill>
                  <a:srgbClr val="A8FF3E"/>
                </a:solidFill>
                <a:latin typeface="Calibri" pitchFamily="34" charset="0"/>
                <a:ea typeface="Calibri" pitchFamily="34" charset="-122"/>
                <a:cs typeface="Calibri" pitchFamily="34" charset="-120"/>
              </a:rPr>
              <a:t>COMMUNICATIONS</a:t>
            </a:r>
            <a:endParaRPr lang="en-US" sz="900" dirty="0"/>
          </a:p>
        </p:txBody>
      </p:sp>
      <p:sp>
        <p:nvSpPr>
          <p:cNvPr id="7" name="Text 5"/>
          <p:cNvSpPr/>
          <p:nvPr/>
        </p:nvSpPr>
        <p:spPr>
          <a:xfrm>
            <a:off x="685800" y="1828800"/>
            <a:ext cx="3200400" cy="777240"/>
          </a:xfrm>
          <a:prstGeom prst="rect">
            <a:avLst/>
          </a:prstGeom>
          <a:noFill/>
          <a:ln/>
        </p:spPr>
        <p:txBody>
          <a:bodyPr wrap="square" lIns="0" tIns="0" rIns="0" bIns="0" rtlCol="0" anchor="ctr"/>
          <a:lstStyle/>
          <a:p>
            <a:pPr algn="l" indent="0" marL="0">
              <a:buNone/>
            </a:pPr>
            <a:r>
              <a:rPr lang="en-US" sz="2000" b="1" dirty="0">
                <a:solidFill>
                  <a:srgbClr val="E9E6DF"/>
                </a:solidFill>
                <a:latin typeface="Calibri" pitchFamily="34" charset="0"/>
                <a:ea typeface="Calibri" pitchFamily="34" charset="-122"/>
                <a:cs typeface="Calibri" pitchFamily="34" charset="-120"/>
              </a:rPr>
              <a:t>Pre-campaign testing</a:t>
            </a:r>
            <a:endParaRPr lang="en-US" sz="2000" dirty="0"/>
          </a:p>
        </p:txBody>
      </p:sp>
      <p:sp>
        <p:nvSpPr>
          <p:cNvPr id="8" name="Text 6"/>
          <p:cNvSpPr/>
          <p:nvPr/>
        </p:nvSpPr>
        <p:spPr>
          <a:xfrm>
            <a:off x="685800" y="2697480"/>
            <a:ext cx="3200400" cy="2560320"/>
          </a:xfrm>
          <a:prstGeom prst="rect">
            <a:avLst/>
          </a:prstGeom>
          <a:noFill/>
          <a:ln/>
        </p:spPr>
        <p:txBody>
          <a:bodyPr wrap="square" lIns="0" tIns="0" rIns="0" bIns="0" rtlCol="0" anchor="ctr"/>
          <a:lstStyle/>
          <a:p>
            <a:pPr algn="l" indent="0" marL="0">
              <a:buNone/>
            </a:pPr>
            <a:r>
              <a:rPr lang="en-US" sz="1300" dirty="0">
                <a:solidFill>
                  <a:srgbClr val="8A8A8A"/>
                </a:solidFill>
                <a:latin typeface="Calibri" pitchFamily="34" charset="0"/>
                <a:ea typeface="Calibri" pitchFamily="34" charset="-122"/>
                <a:cs typeface="Calibri" pitchFamily="34" charset="-120"/>
              </a:rPr>
              <a:t>Simulate how different demographic segments will respond to messaging before fielding a survey. Cost: &lt;1% of traditional survey.</a:t>
            </a:r>
            <a:endParaRPr lang="en-US" sz="1300" dirty="0"/>
          </a:p>
        </p:txBody>
      </p:sp>
      <p:sp>
        <p:nvSpPr>
          <p:cNvPr id="9" name="Shape 7"/>
          <p:cNvSpPr/>
          <p:nvPr/>
        </p:nvSpPr>
        <p:spPr>
          <a:xfrm>
            <a:off x="4361688" y="1234440"/>
            <a:ext cx="3566160" cy="4389120"/>
          </a:xfrm>
          <a:prstGeom prst="rect">
            <a:avLst/>
          </a:prstGeom>
          <a:solidFill>
            <a:srgbClr val="111111"/>
          </a:solidFill>
          <a:ln w="12700">
            <a:solidFill>
              <a:srgbClr val="272727"/>
            </a:solidFill>
            <a:prstDash val="solid"/>
          </a:ln>
        </p:spPr>
      </p:sp>
      <p:sp>
        <p:nvSpPr>
          <p:cNvPr id="10" name="Shape 8"/>
          <p:cNvSpPr/>
          <p:nvPr/>
        </p:nvSpPr>
        <p:spPr>
          <a:xfrm>
            <a:off x="4361688" y="1234440"/>
            <a:ext cx="3566160" cy="45720"/>
          </a:xfrm>
          <a:prstGeom prst="rect">
            <a:avLst/>
          </a:prstGeom>
          <a:solidFill>
            <a:srgbClr val="A8FF3E"/>
          </a:solidFill>
          <a:ln w="12700">
            <a:solidFill>
              <a:srgbClr val="A8FF3E"/>
            </a:solidFill>
            <a:prstDash val="solid"/>
          </a:ln>
        </p:spPr>
      </p:sp>
      <p:sp>
        <p:nvSpPr>
          <p:cNvPr id="11" name="Text 9"/>
          <p:cNvSpPr/>
          <p:nvPr/>
        </p:nvSpPr>
        <p:spPr>
          <a:xfrm>
            <a:off x="4544568" y="1463040"/>
            <a:ext cx="3200400" cy="274320"/>
          </a:xfrm>
          <a:prstGeom prst="rect">
            <a:avLst/>
          </a:prstGeom>
          <a:noFill/>
          <a:ln/>
        </p:spPr>
        <p:txBody>
          <a:bodyPr wrap="square" lIns="0" tIns="0" rIns="0" bIns="0" rtlCol="0" anchor="ctr"/>
          <a:lstStyle/>
          <a:p>
            <a:pPr algn="l" indent="0" marL="0">
              <a:buNone/>
            </a:pPr>
            <a:r>
              <a:rPr lang="en-US" sz="900" b="1" spc="300" kern="0" dirty="0">
                <a:solidFill>
                  <a:srgbClr val="A8FF3E"/>
                </a:solidFill>
                <a:latin typeface="Calibri" pitchFamily="34" charset="0"/>
                <a:ea typeface="Calibri" pitchFamily="34" charset="-122"/>
                <a:cs typeface="Calibri" pitchFamily="34" charset="-120"/>
              </a:rPr>
              <a:t>POLICY</a:t>
            </a:r>
            <a:endParaRPr lang="en-US" sz="900" dirty="0"/>
          </a:p>
        </p:txBody>
      </p:sp>
      <p:sp>
        <p:nvSpPr>
          <p:cNvPr id="12" name="Text 10"/>
          <p:cNvSpPr/>
          <p:nvPr/>
        </p:nvSpPr>
        <p:spPr>
          <a:xfrm>
            <a:off x="4544568" y="1828800"/>
            <a:ext cx="3200400" cy="777240"/>
          </a:xfrm>
          <a:prstGeom prst="rect">
            <a:avLst/>
          </a:prstGeom>
          <a:noFill/>
          <a:ln/>
        </p:spPr>
        <p:txBody>
          <a:bodyPr wrap="square" lIns="0" tIns="0" rIns="0" bIns="0" rtlCol="0" anchor="ctr"/>
          <a:lstStyle/>
          <a:p>
            <a:pPr algn="l" indent="0" marL="0">
              <a:buNone/>
            </a:pPr>
            <a:r>
              <a:rPr lang="en-US" sz="2000" b="1" dirty="0">
                <a:solidFill>
                  <a:srgbClr val="E9E6DF"/>
                </a:solidFill>
                <a:latin typeface="Calibri" pitchFamily="34" charset="0"/>
                <a:ea typeface="Calibri" pitchFamily="34" charset="-122"/>
                <a:cs typeface="Calibri" pitchFamily="34" charset="-120"/>
              </a:rPr>
              <a:t>Policy impact modeling</a:t>
            </a:r>
            <a:endParaRPr lang="en-US" sz="2000" dirty="0"/>
          </a:p>
        </p:txBody>
      </p:sp>
      <p:sp>
        <p:nvSpPr>
          <p:cNvPr id="13" name="Text 11"/>
          <p:cNvSpPr/>
          <p:nvPr/>
        </p:nvSpPr>
        <p:spPr>
          <a:xfrm>
            <a:off x="4544568" y="2697480"/>
            <a:ext cx="3200400" cy="2560320"/>
          </a:xfrm>
          <a:prstGeom prst="rect">
            <a:avLst/>
          </a:prstGeom>
          <a:noFill/>
          <a:ln/>
        </p:spPr>
        <p:txBody>
          <a:bodyPr wrap="square" lIns="0" tIns="0" rIns="0" bIns="0" rtlCol="0" anchor="ctr"/>
          <a:lstStyle/>
          <a:p>
            <a:pPr algn="l" indent="0" marL="0">
              <a:buNone/>
            </a:pPr>
            <a:r>
              <a:rPr lang="en-US" sz="1300" dirty="0">
                <a:solidFill>
                  <a:srgbClr val="8A8A8A"/>
                </a:solidFill>
                <a:latin typeface="Calibri" pitchFamily="34" charset="0"/>
                <a:ea typeface="Calibri" pitchFamily="34" charset="-122"/>
                <a:cs typeface="Calibri" pitchFamily="34" charset="-120"/>
              </a:rPr>
              <a:t>Stress-test proposed policies against synthetic representative populations. Instant turnaround.</a:t>
            </a:r>
            <a:endParaRPr lang="en-US" sz="1300" dirty="0"/>
          </a:p>
        </p:txBody>
      </p:sp>
      <p:sp>
        <p:nvSpPr>
          <p:cNvPr id="14" name="Shape 12"/>
          <p:cNvSpPr/>
          <p:nvPr/>
        </p:nvSpPr>
        <p:spPr>
          <a:xfrm>
            <a:off x="8220456" y="1234440"/>
            <a:ext cx="3566160" cy="4389120"/>
          </a:xfrm>
          <a:prstGeom prst="rect">
            <a:avLst/>
          </a:prstGeom>
          <a:solidFill>
            <a:srgbClr val="111111"/>
          </a:solidFill>
          <a:ln w="12700">
            <a:solidFill>
              <a:srgbClr val="272727"/>
            </a:solidFill>
            <a:prstDash val="solid"/>
          </a:ln>
        </p:spPr>
      </p:sp>
      <p:sp>
        <p:nvSpPr>
          <p:cNvPr id="15" name="Shape 13"/>
          <p:cNvSpPr/>
          <p:nvPr/>
        </p:nvSpPr>
        <p:spPr>
          <a:xfrm>
            <a:off x="8220456" y="1234440"/>
            <a:ext cx="3566160" cy="45720"/>
          </a:xfrm>
          <a:prstGeom prst="rect">
            <a:avLst/>
          </a:prstGeom>
          <a:solidFill>
            <a:srgbClr val="A8FF3E"/>
          </a:solidFill>
          <a:ln w="12700">
            <a:solidFill>
              <a:srgbClr val="A8FF3E"/>
            </a:solidFill>
            <a:prstDash val="solid"/>
          </a:ln>
        </p:spPr>
      </p:sp>
      <p:sp>
        <p:nvSpPr>
          <p:cNvPr id="16" name="Text 14"/>
          <p:cNvSpPr/>
          <p:nvPr/>
        </p:nvSpPr>
        <p:spPr>
          <a:xfrm>
            <a:off x="8403336" y="1463040"/>
            <a:ext cx="3200400" cy="274320"/>
          </a:xfrm>
          <a:prstGeom prst="rect">
            <a:avLst/>
          </a:prstGeom>
          <a:noFill/>
          <a:ln/>
        </p:spPr>
        <p:txBody>
          <a:bodyPr wrap="square" lIns="0" tIns="0" rIns="0" bIns="0" rtlCol="0" anchor="ctr"/>
          <a:lstStyle/>
          <a:p>
            <a:pPr algn="l" indent="0" marL="0">
              <a:buNone/>
            </a:pPr>
            <a:r>
              <a:rPr lang="en-US" sz="900" b="1" spc="300" kern="0" dirty="0">
                <a:solidFill>
                  <a:srgbClr val="A8FF3E"/>
                </a:solidFill>
                <a:latin typeface="Calibri" pitchFamily="34" charset="0"/>
                <a:ea typeface="Calibri" pitchFamily="34" charset="-122"/>
                <a:cs typeface="Calibri" pitchFamily="34" charset="-120"/>
              </a:rPr>
              <a:t>RESEARCH</a:t>
            </a:r>
            <a:endParaRPr lang="en-US" sz="900" dirty="0"/>
          </a:p>
        </p:txBody>
      </p:sp>
      <p:sp>
        <p:nvSpPr>
          <p:cNvPr id="17" name="Text 15"/>
          <p:cNvSpPr/>
          <p:nvPr/>
        </p:nvSpPr>
        <p:spPr>
          <a:xfrm>
            <a:off x="8403336" y="1828800"/>
            <a:ext cx="3200400" cy="777240"/>
          </a:xfrm>
          <a:prstGeom prst="rect">
            <a:avLst/>
          </a:prstGeom>
          <a:noFill/>
          <a:ln/>
        </p:spPr>
        <p:txBody>
          <a:bodyPr wrap="square" lIns="0" tIns="0" rIns="0" bIns="0" rtlCol="0" anchor="ctr"/>
          <a:lstStyle/>
          <a:p>
            <a:pPr algn="l" indent="0" marL="0">
              <a:buNone/>
            </a:pPr>
            <a:r>
              <a:rPr lang="en-US" sz="2000" b="1" dirty="0">
                <a:solidFill>
                  <a:srgbClr val="E9E6DF"/>
                </a:solidFill>
                <a:latin typeface="Calibri" pitchFamily="34" charset="0"/>
                <a:ea typeface="Calibri" pitchFamily="34" charset="-122"/>
                <a:cs typeface="Calibri" pitchFamily="34" charset="-120"/>
              </a:rPr>
              <a:t>Attitude tracking</a:t>
            </a:r>
            <a:endParaRPr lang="en-US" sz="2000" dirty="0"/>
          </a:p>
        </p:txBody>
      </p:sp>
      <p:sp>
        <p:nvSpPr>
          <p:cNvPr id="18" name="Text 16"/>
          <p:cNvSpPr/>
          <p:nvPr/>
        </p:nvSpPr>
        <p:spPr>
          <a:xfrm>
            <a:off x="8403336" y="2697480"/>
            <a:ext cx="3200400" cy="2560320"/>
          </a:xfrm>
          <a:prstGeom prst="rect">
            <a:avLst/>
          </a:prstGeom>
          <a:noFill/>
          <a:ln/>
        </p:spPr>
        <p:txBody>
          <a:bodyPr wrap="square" lIns="0" tIns="0" rIns="0" bIns="0" rtlCol="0" anchor="ctr"/>
          <a:lstStyle/>
          <a:p>
            <a:pPr algn="l" indent="0" marL="0">
              <a:buNone/>
            </a:pPr>
            <a:r>
              <a:rPr lang="en-US" sz="1300" dirty="0">
                <a:solidFill>
                  <a:srgbClr val="8A8A8A"/>
                </a:solidFill>
                <a:latin typeface="Calibri" pitchFamily="34" charset="0"/>
                <a:ea typeface="Calibri" pitchFamily="34" charset="-122"/>
                <a:cs typeface="Calibri" pitchFamily="34" charset="-120"/>
              </a:rPr>
              <a:t>Monitor synthetic distributions over time without the cost and lag of repeated surveys.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502920" y="411480"/>
            <a:ext cx="54864" cy="502920"/>
          </a:xfrm>
          <a:prstGeom prst="rect">
            <a:avLst/>
          </a:prstGeom>
          <a:solidFill>
            <a:srgbClr val="A8FF3E"/>
          </a:solidFill>
          <a:ln w="12700">
            <a:solidFill>
              <a:srgbClr val="A8FF3E"/>
            </a:solidFill>
            <a:prstDash val="solid"/>
          </a:ln>
        </p:spPr>
      </p:sp>
      <p:sp>
        <p:nvSpPr>
          <p:cNvPr id="3" name="Text 1"/>
          <p:cNvSpPr/>
          <p:nvPr/>
        </p:nvSpPr>
        <p:spPr>
          <a:xfrm>
            <a:off x="685800" y="384048"/>
            <a:ext cx="10515600" cy="548640"/>
          </a:xfrm>
          <a:prstGeom prst="rect">
            <a:avLst/>
          </a:prstGeom>
          <a:noFill/>
          <a:ln/>
        </p:spPr>
        <p:txBody>
          <a:bodyPr wrap="square" rtlCol="0" anchor="ctr"/>
          <a:lstStyle/>
          <a:p>
            <a:pPr algn="l" indent="0" marL="0">
              <a:buNone/>
            </a:pPr>
            <a:r>
              <a:rPr lang="en-US" sz="3200" b="1" dirty="0">
                <a:solidFill>
                  <a:srgbClr val="E9E6DF"/>
                </a:solidFill>
                <a:latin typeface="Calibri" pitchFamily="34" charset="0"/>
                <a:ea typeface="Calibri" pitchFamily="34" charset="-122"/>
                <a:cs typeface="Calibri" pitchFamily="34" charset="-120"/>
              </a:rPr>
              <a:t>What's next</a:t>
            </a:r>
            <a:endParaRPr lang="en-US" sz="3200" dirty="0"/>
          </a:p>
        </p:txBody>
      </p:sp>
      <p:sp>
        <p:nvSpPr>
          <p:cNvPr id="4" name="Shape 2"/>
          <p:cNvSpPr/>
          <p:nvPr/>
        </p:nvSpPr>
        <p:spPr>
          <a:xfrm>
            <a:off x="502920" y="1325880"/>
            <a:ext cx="11155680" cy="1463040"/>
          </a:xfrm>
          <a:prstGeom prst="rect">
            <a:avLst/>
          </a:prstGeom>
          <a:solidFill>
            <a:srgbClr val="111111"/>
          </a:solidFill>
          <a:ln w="12700">
            <a:solidFill>
              <a:srgbClr val="1E1E1E"/>
            </a:solidFill>
            <a:prstDash val="solid"/>
          </a:ln>
        </p:spPr>
      </p:sp>
      <p:sp>
        <p:nvSpPr>
          <p:cNvPr id="5" name="Shape 3"/>
          <p:cNvSpPr/>
          <p:nvPr/>
        </p:nvSpPr>
        <p:spPr>
          <a:xfrm>
            <a:off x="502920" y="1325880"/>
            <a:ext cx="54864" cy="1463040"/>
          </a:xfrm>
          <a:prstGeom prst="rect">
            <a:avLst/>
          </a:prstGeom>
          <a:solidFill>
            <a:srgbClr val="A8FF3E"/>
          </a:solidFill>
          <a:ln w="12700">
            <a:solidFill>
              <a:srgbClr val="A8FF3E"/>
            </a:solidFill>
            <a:prstDash val="solid"/>
          </a:ln>
        </p:spPr>
      </p:sp>
      <p:sp>
        <p:nvSpPr>
          <p:cNvPr id="6" name="Shape 4"/>
          <p:cNvSpPr/>
          <p:nvPr/>
        </p:nvSpPr>
        <p:spPr>
          <a:xfrm>
            <a:off x="10332720" y="1691640"/>
            <a:ext cx="1188720" cy="347472"/>
          </a:xfrm>
          <a:prstGeom prst="rect">
            <a:avLst/>
          </a:prstGeom>
          <a:solidFill>
            <a:srgbClr val="0D2200"/>
          </a:solidFill>
          <a:ln w="12700">
            <a:solidFill>
              <a:srgbClr val="A8FF3E"/>
            </a:solidFill>
            <a:prstDash val="solid"/>
          </a:ln>
        </p:spPr>
      </p:sp>
      <p:sp>
        <p:nvSpPr>
          <p:cNvPr id="7" name="Text 5"/>
          <p:cNvSpPr/>
          <p:nvPr/>
        </p:nvSpPr>
        <p:spPr>
          <a:xfrm>
            <a:off x="10332720" y="1709928"/>
            <a:ext cx="1188720" cy="310896"/>
          </a:xfrm>
          <a:prstGeom prst="rect">
            <a:avLst/>
          </a:prstGeom>
          <a:noFill/>
          <a:ln/>
        </p:spPr>
        <p:txBody>
          <a:bodyPr wrap="square" lIns="0" tIns="0" rIns="0" bIns="0" rtlCol="0" anchor="ctr"/>
          <a:lstStyle/>
          <a:p>
            <a:pPr algn="ctr" indent="0" marL="0">
              <a:buNone/>
            </a:pPr>
            <a:r>
              <a:rPr lang="en-US" sz="1000" b="1" dirty="0">
                <a:solidFill>
                  <a:srgbClr val="A8FF3E"/>
                </a:solidFill>
                <a:latin typeface="Calibri" pitchFamily="34" charset="0"/>
                <a:ea typeface="Calibri" pitchFamily="34" charset="-122"/>
                <a:cs typeface="Calibri" pitchFamily="34" charset="-120"/>
              </a:rPr>
              <a:t>In progress</a:t>
            </a:r>
            <a:endParaRPr lang="en-US" sz="1000" dirty="0"/>
          </a:p>
        </p:txBody>
      </p:sp>
      <p:sp>
        <p:nvSpPr>
          <p:cNvPr id="8" name="Text 6"/>
          <p:cNvSpPr/>
          <p:nvPr/>
        </p:nvSpPr>
        <p:spPr>
          <a:xfrm>
            <a:off x="685800" y="1490472"/>
            <a:ext cx="9418320" cy="411480"/>
          </a:xfrm>
          <a:prstGeom prst="rect">
            <a:avLst/>
          </a:prstGeom>
          <a:noFill/>
          <a:ln/>
        </p:spPr>
        <p:txBody>
          <a:bodyPr wrap="square" lIns="0" tIns="0" rIns="0" bIns="0" rtlCol="0" anchor="ctr"/>
          <a:lstStyle/>
          <a:p>
            <a:pPr algn="l" indent="0" marL="0">
              <a:buNone/>
            </a:pPr>
            <a:r>
              <a:rPr lang="en-US" sz="1800" b="1" dirty="0">
                <a:solidFill>
                  <a:srgbClr val="E9E6DF"/>
                </a:solidFill>
                <a:latin typeface="Calibri" pitchFamily="34" charset="0"/>
                <a:ea typeface="Calibri" pitchFamily="34" charset="-122"/>
                <a:cs typeface="Calibri" pitchFamily="34" charset="-120"/>
              </a:rPr>
              <a:t>1.  India replication (Study 1B)</a:t>
            </a:r>
            <a:endParaRPr lang="en-US" sz="1800" dirty="0"/>
          </a:p>
        </p:txBody>
      </p:sp>
      <p:sp>
        <p:nvSpPr>
          <p:cNvPr id="9" name="Text 7"/>
          <p:cNvSpPr/>
          <p:nvPr/>
        </p:nvSpPr>
        <p:spPr>
          <a:xfrm>
            <a:off x="685800" y="1965960"/>
            <a:ext cx="9418320" cy="685800"/>
          </a:xfrm>
          <a:prstGeom prst="rect">
            <a:avLst/>
          </a:prstGeom>
          <a:noFill/>
          <a:ln/>
        </p:spPr>
        <p:txBody>
          <a:bodyPr wrap="square" lIns="0" tIns="0" rIns="0" bIns="0" rtlCol="0" anchor="ctr"/>
          <a:lstStyle/>
          <a:p>
            <a:pPr algn="l" indent="0" marL="0">
              <a:buNone/>
            </a:pPr>
            <a:r>
              <a:rPr lang="en-US" sz="1300" dirty="0">
                <a:solidFill>
                  <a:srgbClr val="8A8A8A"/>
                </a:solidFill>
                <a:latin typeface="Calibri" pitchFamily="34" charset="0"/>
                <a:ea typeface="Calibri" pitchFamily="34" charset="-122"/>
                <a:cs typeface="Calibri" pitchFamily="34" charset="-120"/>
              </a:rPr>
              <a:t>In progress. 40 personas, 15 Pew India questions. Diagnosing RLHF cultural bias on governance and gender norms questions.</a:t>
            </a:r>
            <a:endParaRPr lang="en-US" sz="1300" dirty="0"/>
          </a:p>
        </p:txBody>
      </p:sp>
      <p:sp>
        <p:nvSpPr>
          <p:cNvPr id="10" name="Shape 8"/>
          <p:cNvSpPr/>
          <p:nvPr/>
        </p:nvSpPr>
        <p:spPr>
          <a:xfrm>
            <a:off x="502920" y="2926080"/>
            <a:ext cx="11155680" cy="1463040"/>
          </a:xfrm>
          <a:prstGeom prst="rect">
            <a:avLst/>
          </a:prstGeom>
          <a:solidFill>
            <a:srgbClr val="111111"/>
          </a:solidFill>
          <a:ln w="12700">
            <a:solidFill>
              <a:srgbClr val="1E1E1E"/>
            </a:solidFill>
            <a:prstDash val="solid"/>
          </a:ln>
        </p:spPr>
      </p:sp>
      <p:sp>
        <p:nvSpPr>
          <p:cNvPr id="11" name="Shape 9"/>
          <p:cNvSpPr/>
          <p:nvPr/>
        </p:nvSpPr>
        <p:spPr>
          <a:xfrm>
            <a:off x="502920" y="2926080"/>
            <a:ext cx="54864" cy="1463040"/>
          </a:xfrm>
          <a:prstGeom prst="rect">
            <a:avLst/>
          </a:prstGeom>
          <a:solidFill>
            <a:srgbClr val="5E5E5E"/>
          </a:solidFill>
          <a:ln w="12700">
            <a:solidFill>
              <a:srgbClr val="5E5E5E"/>
            </a:solidFill>
            <a:prstDash val="solid"/>
          </a:ln>
        </p:spPr>
      </p:sp>
      <p:sp>
        <p:nvSpPr>
          <p:cNvPr id="12" name="Shape 10"/>
          <p:cNvSpPr/>
          <p:nvPr/>
        </p:nvSpPr>
        <p:spPr>
          <a:xfrm>
            <a:off x="10332720" y="3291840"/>
            <a:ext cx="1188720" cy="347472"/>
          </a:xfrm>
          <a:prstGeom prst="rect">
            <a:avLst/>
          </a:prstGeom>
          <a:solidFill>
            <a:srgbClr val="1A1A1A"/>
          </a:solidFill>
          <a:ln w="12700">
            <a:solidFill>
              <a:srgbClr val="5E5E5E"/>
            </a:solidFill>
            <a:prstDash val="solid"/>
          </a:ln>
        </p:spPr>
      </p:sp>
      <p:sp>
        <p:nvSpPr>
          <p:cNvPr id="13" name="Text 11"/>
          <p:cNvSpPr/>
          <p:nvPr/>
        </p:nvSpPr>
        <p:spPr>
          <a:xfrm>
            <a:off x="10332720" y="3310128"/>
            <a:ext cx="1188720" cy="310896"/>
          </a:xfrm>
          <a:prstGeom prst="rect">
            <a:avLst/>
          </a:prstGeom>
          <a:noFill/>
          <a:ln/>
        </p:spPr>
        <p:txBody>
          <a:bodyPr wrap="square" lIns="0" tIns="0" rIns="0" bIns="0" rtlCol="0" anchor="ctr"/>
          <a:lstStyle/>
          <a:p>
            <a:pPr algn="ctr" indent="0" marL="0">
              <a:buNone/>
            </a:pPr>
            <a:r>
              <a:rPr lang="en-US" sz="1000" b="1" dirty="0">
                <a:solidFill>
                  <a:srgbClr val="5E5E5E"/>
                </a:solidFill>
                <a:latin typeface="Calibri" pitchFamily="34" charset="0"/>
                <a:ea typeface="Calibri" pitchFamily="34" charset="-122"/>
                <a:cs typeface="Calibri" pitchFamily="34" charset="-120"/>
              </a:rPr>
              <a:t>Planned</a:t>
            </a:r>
            <a:endParaRPr lang="en-US" sz="1000" dirty="0"/>
          </a:p>
        </p:txBody>
      </p:sp>
      <p:sp>
        <p:nvSpPr>
          <p:cNvPr id="14" name="Text 12"/>
          <p:cNvSpPr/>
          <p:nvPr/>
        </p:nvSpPr>
        <p:spPr>
          <a:xfrm>
            <a:off x="685800" y="3090672"/>
            <a:ext cx="9418320" cy="411480"/>
          </a:xfrm>
          <a:prstGeom prst="rect">
            <a:avLst/>
          </a:prstGeom>
          <a:noFill/>
          <a:ln/>
        </p:spPr>
        <p:txBody>
          <a:bodyPr wrap="square" lIns="0" tIns="0" rIns="0" bIns="0" rtlCol="0" anchor="ctr"/>
          <a:lstStyle/>
          <a:p>
            <a:pPr algn="l" indent="0" marL="0">
              <a:buNone/>
            </a:pPr>
            <a:r>
              <a:rPr lang="en-US" sz="1800" b="1" dirty="0">
                <a:solidFill>
                  <a:srgbClr val="E9E6DF"/>
                </a:solidFill>
                <a:latin typeface="Calibri" pitchFamily="34" charset="0"/>
                <a:ea typeface="Calibri" pitchFamily="34" charset="-122"/>
                <a:cs typeface="Calibri" pitchFamily="34" charset="-120"/>
              </a:rPr>
              <a:t>2.  Multi-country expansion</a:t>
            </a:r>
            <a:endParaRPr lang="en-US" sz="1800" dirty="0"/>
          </a:p>
        </p:txBody>
      </p:sp>
      <p:sp>
        <p:nvSpPr>
          <p:cNvPr id="15" name="Text 13"/>
          <p:cNvSpPr/>
          <p:nvPr/>
        </p:nvSpPr>
        <p:spPr>
          <a:xfrm>
            <a:off x="685800" y="3566160"/>
            <a:ext cx="9418320" cy="685800"/>
          </a:xfrm>
          <a:prstGeom prst="rect">
            <a:avLst/>
          </a:prstGeom>
          <a:noFill/>
          <a:ln/>
        </p:spPr>
        <p:txBody>
          <a:bodyPr wrap="square" lIns="0" tIns="0" rIns="0" bIns="0" rtlCol="0" anchor="ctr"/>
          <a:lstStyle/>
          <a:p>
            <a:pPr algn="l" indent="0" marL="0">
              <a:buNone/>
            </a:pPr>
            <a:r>
              <a:rPr lang="en-US" sz="1300" dirty="0">
                <a:solidFill>
                  <a:srgbClr val="8A8A8A"/>
                </a:solidFill>
                <a:latin typeface="Calibri" pitchFamily="34" charset="0"/>
                <a:ea typeface="Calibri" pitchFamily="34" charset="-122"/>
                <a:cs typeface="Calibri" pitchFamily="34" charset="-120"/>
              </a:rPr>
              <a:t>After India validation, extend to 5+ countries with culturally-adapted CoreMemory stances.</a:t>
            </a:r>
            <a:endParaRPr lang="en-US" sz="1300" dirty="0"/>
          </a:p>
        </p:txBody>
      </p:sp>
      <p:sp>
        <p:nvSpPr>
          <p:cNvPr id="16" name="Shape 14"/>
          <p:cNvSpPr/>
          <p:nvPr/>
        </p:nvSpPr>
        <p:spPr>
          <a:xfrm>
            <a:off x="502920" y="4526280"/>
            <a:ext cx="11155680" cy="1463040"/>
          </a:xfrm>
          <a:prstGeom prst="rect">
            <a:avLst/>
          </a:prstGeom>
          <a:solidFill>
            <a:srgbClr val="111111"/>
          </a:solidFill>
          <a:ln w="12700">
            <a:solidFill>
              <a:srgbClr val="1E1E1E"/>
            </a:solidFill>
            <a:prstDash val="solid"/>
          </a:ln>
        </p:spPr>
      </p:sp>
      <p:sp>
        <p:nvSpPr>
          <p:cNvPr id="17" name="Shape 15"/>
          <p:cNvSpPr/>
          <p:nvPr/>
        </p:nvSpPr>
        <p:spPr>
          <a:xfrm>
            <a:off x="502920" y="4526280"/>
            <a:ext cx="54864" cy="1463040"/>
          </a:xfrm>
          <a:prstGeom prst="rect">
            <a:avLst/>
          </a:prstGeom>
          <a:solidFill>
            <a:srgbClr val="5E5E5E"/>
          </a:solidFill>
          <a:ln w="12700">
            <a:solidFill>
              <a:srgbClr val="5E5E5E"/>
            </a:solidFill>
            <a:prstDash val="solid"/>
          </a:ln>
        </p:spPr>
      </p:sp>
      <p:sp>
        <p:nvSpPr>
          <p:cNvPr id="18" name="Shape 16"/>
          <p:cNvSpPr/>
          <p:nvPr/>
        </p:nvSpPr>
        <p:spPr>
          <a:xfrm>
            <a:off x="10332720" y="4892040"/>
            <a:ext cx="1188720" cy="347472"/>
          </a:xfrm>
          <a:prstGeom prst="rect">
            <a:avLst/>
          </a:prstGeom>
          <a:solidFill>
            <a:srgbClr val="1A1A1A"/>
          </a:solidFill>
          <a:ln w="12700">
            <a:solidFill>
              <a:srgbClr val="5E5E5E"/>
            </a:solidFill>
            <a:prstDash val="solid"/>
          </a:ln>
        </p:spPr>
      </p:sp>
      <p:sp>
        <p:nvSpPr>
          <p:cNvPr id="19" name="Text 17"/>
          <p:cNvSpPr/>
          <p:nvPr/>
        </p:nvSpPr>
        <p:spPr>
          <a:xfrm>
            <a:off x="10332720" y="4910328"/>
            <a:ext cx="1188720" cy="310896"/>
          </a:xfrm>
          <a:prstGeom prst="rect">
            <a:avLst/>
          </a:prstGeom>
          <a:noFill/>
          <a:ln/>
        </p:spPr>
        <p:txBody>
          <a:bodyPr wrap="square" lIns="0" tIns="0" rIns="0" bIns="0" rtlCol="0" anchor="ctr"/>
          <a:lstStyle/>
          <a:p>
            <a:pPr algn="ctr" indent="0" marL="0">
              <a:buNone/>
            </a:pPr>
            <a:r>
              <a:rPr lang="en-US" sz="1000" b="1" dirty="0">
                <a:solidFill>
                  <a:srgbClr val="5E5E5E"/>
                </a:solidFill>
                <a:latin typeface="Calibri" pitchFamily="34" charset="0"/>
                <a:ea typeface="Calibri" pitchFamily="34" charset="-122"/>
                <a:cs typeface="Calibri" pitchFamily="34" charset="-120"/>
              </a:rPr>
              <a:t>Planned</a:t>
            </a:r>
            <a:endParaRPr lang="en-US" sz="1000" dirty="0"/>
          </a:p>
        </p:txBody>
      </p:sp>
      <p:sp>
        <p:nvSpPr>
          <p:cNvPr id="20" name="Text 18"/>
          <p:cNvSpPr/>
          <p:nvPr/>
        </p:nvSpPr>
        <p:spPr>
          <a:xfrm>
            <a:off x="685800" y="4690872"/>
            <a:ext cx="9418320" cy="411480"/>
          </a:xfrm>
          <a:prstGeom prst="rect">
            <a:avLst/>
          </a:prstGeom>
          <a:noFill/>
          <a:ln/>
        </p:spPr>
        <p:txBody>
          <a:bodyPr wrap="square" lIns="0" tIns="0" rIns="0" bIns="0" rtlCol="0" anchor="ctr"/>
          <a:lstStyle/>
          <a:p>
            <a:pPr algn="l" indent="0" marL="0">
              <a:buNone/>
            </a:pPr>
            <a:r>
              <a:rPr lang="en-US" sz="1800" b="1" dirty="0">
                <a:solidFill>
                  <a:srgbClr val="E9E6DF"/>
                </a:solidFill>
                <a:latin typeface="Calibri" pitchFamily="34" charset="0"/>
                <a:ea typeface="Calibri" pitchFamily="34" charset="-122"/>
                <a:cs typeface="Calibri" pitchFamily="34" charset="-120"/>
              </a:rPr>
              <a:t>3.  Longitudinal tracking</a:t>
            </a:r>
            <a:endParaRPr lang="en-US" sz="1800" dirty="0"/>
          </a:p>
        </p:txBody>
      </p:sp>
      <p:sp>
        <p:nvSpPr>
          <p:cNvPr id="21" name="Text 19"/>
          <p:cNvSpPr/>
          <p:nvPr/>
        </p:nvSpPr>
        <p:spPr>
          <a:xfrm>
            <a:off x="685800" y="5166360"/>
            <a:ext cx="9418320" cy="685800"/>
          </a:xfrm>
          <a:prstGeom prst="rect">
            <a:avLst/>
          </a:prstGeom>
          <a:noFill/>
          <a:ln/>
        </p:spPr>
        <p:txBody>
          <a:bodyPr wrap="square" lIns="0" tIns="0" rIns="0" bIns="0" rtlCol="0" anchor="ctr"/>
          <a:lstStyle/>
          <a:p>
            <a:pPr algn="l" indent="0" marL="0">
              <a:buNone/>
            </a:pPr>
            <a:r>
              <a:rPr lang="en-US" sz="1300" dirty="0">
                <a:solidFill>
                  <a:srgbClr val="8A8A8A"/>
                </a:solidFill>
                <a:latin typeface="Calibri" pitchFamily="34" charset="0"/>
                <a:ea typeface="Calibri" pitchFamily="34" charset="-122"/>
                <a:cs typeface="Calibri" pitchFamily="34" charset="-120"/>
              </a:rPr>
              <a:t>Deploy synthetic panels to track attitude shifts over time and predict real survey movements.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502920" y="411480"/>
            <a:ext cx="54864" cy="502920"/>
          </a:xfrm>
          <a:prstGeom prst="rect">
            <a:avLst/>
          </a:prstGeom>
          <a:solidFill>
            <a:srgbClr val="A8FF3E"/>
          </a:solidFill>
          <a:ln w="12700">
            <a:solidFill>
              <a:srgbClr val="A8FF3E"/>
            </a:solidFill>
            <a:prstDash val="solid"/>
          </a:ln>
        </p:spPr>
      </p:sp>
      <p:sp>
        <p:nvSpPr>
          <p:cNvPr id="3" name="Text 1"/>
          <p:cNvSpPr/>
          <p:nvPr/>
        </p:nvSpPr>
        <p:spPr>
          <a:xfrm>
            <a:off x="685800" y="384048"/>
            <a:ext cx="10515600" cy="548640"/>
          </a:xfrm>
          <a:prstGeom prst="rect">
            <a:avLst/>
          </a:prstGeom>
          <a:noFill/>
          <a:ln/>
        </p:spPr>
        <p:txBody>
          <a:bodyPr wrap="square" rtlCol="0" anchor="ctr"/>
          <a:lstStyle/>
          <a:p>
            <a:pPr algn="l" indent="0" marL="0">
              <a:buNone/>
            </a:pPr>
            <a:r>
              <a:rPr lang="en-US" sz="3200" b="1" dirty="0">
                <a:solidFill>
                  <a:srgbClr val="E9E6DF"/>
                </a:solidFill>
                <a:latin typeface="Calibri" pitchFamily="34" charset="0"/>
                <a:ea typeface="Calibri" pitchFamily="34" charset="-122"/>
                <a:cs typeface="Calibri" pitchFamily="34" charset="-120"/>
              </a:rPr>
              <a:t>Open and auditable</a:t>
            </a:r>
            <a:endParaRPr lang="en-US" sz="3200" dirty="0"/>
          </a:p>
        </p:txBody>
      </p:sp>
      <p:sp>
        <p:nvSpPr>
          <p:cNvPr id="4" name="Text 2"/>
          <p:cNvSpPr/>
          <p:nvPr/>
        </p:nvSpPr>
        <p:spPr>
          <a:xfrm>
            <a:off x="685800" y="1005840"/>
            <a:ext cx="10515600" cy="502920"/>
          </a:xfrm>
          <a:prstGeom prst="rect">
            <a:avLst/>
          </a:prstGeom>
          <a:noFill/>
          <a:ln/>
        </p:spPr>
        <p:txBody>
          <a:bodyPr wrap="square" rtlCol="0" anchor="ctr"/>
          <a:lstStyle/>
          <a:p>
            <a:pPr algn="l" indent="0" marL="0">
              <a:buNone/>
            </a:pPr>
            <a:r>
              <a:rPr lang="en-US" sz="1500" dirty="0">
                <a:solidFill>
                  <a:srgbClr val="8A8A8A"/>
                </a:solidFill>
                <a:latin typeface="Calibri" pitchFamily="34" charset="0"/>
                <a:ea typeface="Calibri" pitchFamily="34" charset="-122"/>
                <a:cs typeface="Calibri" pitchFamily="34" charset="-120"/>
              </a:rPr>
              <a:t>Full methodology, sprint history, raw results, and audit manifests are published on GitHub.</a:t>
            </a:r>
            <a:endParaRPr lang="en-US" sz="1500" dirty="0"/>
          </a:p>
        </p:txBody>
      </p:sp>
      <p:sp>
        <p:nvSpPr>
          <p:cNvPr id="5" name="Shape 3"/>
          <p:cNvSpPr/>
          <p:nvPr/>
        </p:nvSpPr>
        <p:spPr>
          <a:xfrm>
            <a:off x="502920" y="1737360"/>
            <a:ext cx="11155680" cy="1143000"/>
          </a:xfrm>
          <a:prstGeom prst="rect">
            <a:avLst/>
          </a:prstGeom>
          <a:solidFill>
            <a:srgbClr val="111111"/>
          </a:solidFill>
          <a:ln w="12700">
            <a:solidFill>
              <a:srgbClr val="1E1E1E"/>
            </a:solidFill>
            <a:prstDash val="solid"/>
          </a:ln>
        </p:spPr>
      </p:sp>
      <p:sp>
        <p:nvSpPr>
          <p:cNvPr id="6" name="Shape 4"/>
          <p:cNvSpPr/>
          <p:nvPr/>
        </p:nvSpPr>
        <p:spPr>
          <a:xfrm>
            <a:off x="502920" y="1737360"/>
            <a:ext cx="640080" cy="1143000"/>
          </a:xfrm>
          <a:prstGeom prst="rect">
            <a:avLst/>
          </a:prstGeom>
          <a:solidFill>
            <a:srgbClr val="0D1A00"/>
          </a:solidFill>
          <a:ln w="12700">
            <a:solidFill>
              <a:srgbClr val="1A2E00"/>
            </a:solidFill>
            <a:prstDash val="solid"/>
          </a:ln>
        </p:spPr>
      </p:sp>
      <p:sp>
        <p:nvSpPr>
          <p:cNvPr id="7" name="Text 5"/>
          <p:cNvSpPr/>
          <p:nvPr/>
        </p:nvSpPr>
        <p:spPr>
          <a:xfrm>
            <a:off x="502920" y="2057400"/>
            <a:ext cx="640080" cy="502920"/>
          </a:xfrm>
          <a:prstGeom prst="rect">
            <a:avLst/>
          </a:prstGeom>
          <a:noFill/>
          <a:ln/>
        </p:spPr>
        <p:txBody>
          <a:bodyPr wrap="square" lIns="0" tIns="0" rIns="0" bIns="0" rtlCol="0" anchor="ctr"/>
          <a:lstStyle/>
          <a:p>
            <a:pPr algn="ctr" indent="0" marL="0">
              <a:buNone/>
            </a:pPr>
            <a:r>
              <a:rPr lang="en-US" sz="1600" b="1" dirty="0">
                <a:solidFill>
                  <a:srgbClr val="A8FF3E"/>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1325880" y="1847088"/>
            <a:ext cx="9875520" cy="365760"/>
          </a:xfrm>
          <a:prstGeom prst="rect">
            <a:avLst/>
          </a:prstGeom>
          <a:noFill/>
          <a:ln/>
        </p:spPr>
        <p:txBody>
          <a:bodyPr wrap="square" lIns="0" tIns="0" rIns="0" bIns="0" rtlCol="0" anchor="ctr"/>
          <a:lstStyle/>
          <a:p>
            <a:pPr algn="l" indent="0" marL="0">
              <a:buNone/>
            </a:pPr>
            <a:r>
              <a:rPr lang="en-US" sz="1600" b="1" dirty="0">
                <a:solidFill>
                  <a:srgbClr val="E9E6DF"/>
                </a:solidFill>
                <a:latin typeface="Calibri" pitchFamily="34" charset="0"/>
                <a:ea typeface="Calibri" pitchFamily="34" charset="-122"/>
                <a:cs typeface="Calibri" pitchFamily="34" charset="-120"/>
              </a:rPr>
              <a:t>Git-tagged sprints</a:t>
            </a:r>
            <a:endParaRPr lang="en-US" sz="1600" dirty="0"/>
          </a:p>
        </p:txBody>
      </p:sp>
      <p:sp>
        <p:nvSpPr>
          <p:cNvPr id="9" name="Text 7"/>
          <p:cNvSpPr/>
          <p:nvPr/>
        </p:nvSpPr>
        <p:spPr>
          <a:xfrm>
            <a:off x="1325880" y="2240280"/>
            <a:ext cx="9875520" cy="502920"/>
          </a:xfrm>
          <a:prstGeom prst="rect">
            <a:avLst/>
          </a:prstGeom>
          <a:noFill/>
          <a:ln/>
        </p:spPr>
        <p:txBody>
          <a:bodyPr wrap="square" lIns="0" tIns="0" rIns="0" bIns="0" rtlCol="0" anchor="ctr"/>
          <a:lstStyle/>
          <a:p>
            <a:pPr algn="l" indent="0" marL="0">
              <a:buNone/>
            </a:pPr>
            <a:r>
              <a:rPr lang="en-US" sz="1300" dirty="0">
                <a:solidFill>
                  <a:srgbClr val="8A8A8A"/>
                </a:solidFill>
                <a:latin typeface="Calibri" pitchFamily="34" charset="0"/>
                <a:ea typeface="Calibri" pitchFamily="34" charset="-122"/>
                <a:cs typeface="Calibri" pitchFamily="34" charset="-120"/>
              </a:rPr>
              <a:t>Every result is linked to a specific git commit. B-10 results are reproducible from tag study-1a-sprint-b10.</a:t>
            </a:r>
            <a:endParaRPr lang="en-US" sz="1300" dirty="0"/>
          </a:p>
        </p:txBody>
      </p:sp>
      <p:sp>
        <p:nvSpPr>
          <p:cNvPr id="10" name="Shape 8"/>
          <p:cNvSpPr/>
          <p:nvPr/>
        </p:nvSpPr>
        <p:spPr>
          <a:xfrm>
            <a:off x="502920" y="3108960"/>
            <a:ext cx="11155680" cy="1143000"/>
          </a:xfrm>
          <a:prstGeom prst="rect">
            <a:avLst/>
          </a:prstGeom>
          <a:solidFill>
            <a:srgbClr val="111111"/>
          </a:solidFill>
          <a:ln w="12700">
            <a:solidFill>
              <a:srgbClr val="1E1E1E"/>
            </a:solidFill>
            <a:prstDash val="solid"/>
          </a:ln>
        </p:spPr>
      </p:sp>
      <p:sp>
        <p:nvSpPr>
          <p:cNvPr id="11" name="Shape 9"/>
          <p:cNvSpPr/>
          <p:nvPr/>
        </p:nvSpPr>
        <p:spPr>
          <a:xfrm>
            <a:off x="502920" y="3108960"/>
            <a:ext cx="640080" cy="1143000"/>
          </a:xfrm>
          <a:prstGeom prst="rect">
            <a:avLst/>
          </a:prstGeom>
          <a:solidFill>
            <a:srgbClr val="0D1A00"/>
          </a:solidFill>
          <a:ln w="12700">
            <a:solidFill>
              <a:srgbClr val="1A2E00"/>
            </a:solidFill>
            <a:prstDash val="solid"/>
          </a:ln>
        </p:spPr>
      </p:sp>
      <p:sp>
        <p:nvSpPr>
          <p:cNvPr id="12" name="Text 10"/>
          <p:cNvSpPr/>
          <p:nvPr/>
        </p:nvSpPr>
        <p:spPr>
          <a:xfrm>
            <a:off x="502920" y="3429000"/>
            <a:ext cx="640080" cy="502920"/>
          </a:xfrm>
          <a:prstGeom prst="rect">
            <a:avLst/>
          </a:prstGeom>
          <a:noFill/>
          <a:ln/>
        </p:spPr>
        <p:txBody>
          <a:bodyPr wrap="square" lIns="0" tIns="0" rIns="0" bIns="0" rtlCol="0" anchor="ctr"/>
          <a:lstStyle/>
          <a:p>
            <a:pPr algn="ctr" indent="0" marL="0">
              <a:buNone/>
            </a:pPr>
            <a:r>
              <a:rPr lang="en-US" sz="1600" b="1" dirty="0">
                <a:solidFill>
                  <a:srgbClr val="A8FF3E"/>
                </a:solidFill>
                <a:latin typeface="Calibri" pitchFamily="34" charset="0"/>
                <a:ea typeface="Calibri" pitchFamily="34" charset="-122"/>
                <a:cs typeface="Calibri" pitchFamily="34" charset="-120"/>
              </a:rPr>
              <a:t>02</a:t>
            </a:r>
            <a:endParaRPr lang="en-US" sz="1600" dirty="0"/>
          </a:p>
        </p:txBody>
      </p:sp>
      <p:sp>
        <p:nvSpPr>
          <p:cNvPr id="13" name="Text 11"/>
          <p:cNvSpPr/>
          <p:nvPr/>
        </p:nvSpPr>
        <p:spPr>
          <a:xfrm>
            <a:off x="1325880" y="3218688"/>
            <a:ext cx="9875520" cy="365760"/>
          </a:xfrm>
          <a:prstGeom prst="rect">
            <a:avLst/>
          </a:prstGeom>
          <a:noFill/>
          <a:ln/>
        </p:spPr>
        <p:txBody>
          <a:bodyPr wrap="square" lIns="0" tIns="0" rIns="0" bIns="0" rtlCol="0" anchor="ctr"/>
          <a:lstStyle/>
          <a:p>
            <a:pPr algn="l" indent="0" marL="0">
              <a:buNone/>
            </a:pPr>
            <a:r>
              <a:rPr lang="en-US" sz="1600" b="1" dirty="0">
                <a:solidFill>
                  <a:srgbClr val="E9E6DF"/>
                </a:solidFill>
                <a:latin typeface="Calibri" pitchFamily="34" charset="0"/>
                <a:ea typeface="Calibri" pitchFamily="34" charset="-122"/>
                <a:cs typeface="Calibri" pitchFamily="34" charset="-120"/>
              </a:rPr>
              <a:t>Raw data published</a:t>
            </a:r>
            <a:endParaRPr lang="en-US" sz="1600" dirty="0"/>
          </a:p>
        </p:txBody>
      </p:sp>
      <p:sp>
        <p:nvSpPr>
          <p:cNvPr id="14" name="Text 12"/>
          <p:cNvSpPr/>
          <p:nvPr/>
        </p:nvSpPr>
        <p:spPr>
          <a:xfrm>
            <a:off x="1325880" y="3611880"/>
            <a:ext cx="9875520" cy="502920"/>
          </a:xfrm>
          <a:prstGeom prst="rect">
            <a:avLst/>
          </a:prstGeom>
          <a:noFill/>
          <a:ln/>
        </p:spPr>
        <p:txBody>
          <a:bodyPr wrap="square" lIns="0" tIns="0" rIns="0" bIns="0" rtlCol="0" anchor="ctr"/>
          <a:lstStyle/>
          <a:p>
            <a:pPr algn="l" indent="0" marL="0">
              <a:buNone/>
            </a:pPr>
            <a:r>
              <a:rPr lang="en-US" sz="1300" dirty="0">
                <a:solidFill>
                  <a:srgbClr val="8A8A8A"/>
                </a:solidFill>
                <a:latin typeface="Calibri" pitchFamily="34" charset="0"/>
                <a:ea typeface="Calibri" pitchFamily="34" charset="-122"/>
                <a:cs typeface="Calibri" pitchFamily="34" charset="-120"/>
              </a:rPr>
              <a:t>simulatte_results.json contains full per-question distributions, Pew baselines, and sample responses.</a:t>
            </a:r>
            <a:endParaRPr lang="en-US" sz="1300" dirty="0"/>
          </a:p>
        </p:txBody>
      </p:sp>
      <p:sp>
        <p:nvSpPr>
          <p:cNvPr id="15" name="Shape 13"/>
          <p:cNvSpPr/>
          <p:nvPr/>
        </p:nvSpPr>
        <p:spPr>
          <a:xfrm>
            <a:off x="502920" y="4480560"/>
            <a:ext cx="11155680" cy="1143000"/>
          </a:xfrm>
          <a:prstGeom prst="rect">
            <a:avLst/>
          </a:prstGeom>
          <a:solidFill>
            <a:srgbClr val="111111"/>
          </a:solidFill>
          <a:ln w="12700">
            <a:solidFill>
              <a:srgbClr val="1E1E1E"/>
            </a:solidFill>
            <a:prstDash val="solid"/>
          </a:ln>
        </p:spPr>
      </p:sp>
      <p:sp>
        <p:nvSpPr>
          <p:cNvPr id="16" name="Shape 14"/>
          <p:cNvSpPr/>
          <p:nvPr/>
        </p:nvSpPr>
        <p:spPr>
          <a:xfrm>
            <a:off x="502920" y="4480560"/>
            <a:ext cx="640080" cy="1143000"/>
          </a:xfrm>
          <a:prstGeom prst="rect">
            <a:avLst/>
          </a:prstGeom>
          <a:solidFill>
            <a:srgbClr val="0D1A00"/>
          </a:solidFill>
          <a:ln w="12700">
            <a:solidFill>
              <a:srgbClr val="1A2E00"/>
            </a:solidFill>
            <a:prstDash val="solid"/>
          </a:ln>
        </p:spPr>
      </p:sp>
      <p:sp>
        <p:nvSpPr>
          <p:cNvPr id="17" name="Text 15"/>
          <p:cNvSpPr/>
          <p:nvPr/>
        </p:nvSpPr>
        <p:spPr>
          <a:xfrm>
            <a:off x="502920" y="4800600"/>
            <a:ext cx="640080" cy="502920"/>
          </a:xfrm>
          <a:prstGeom prst="rect">
            <a:avLst/>
          </a:prstGeom>
          <a:noFill/>
          <a:ln/>
        </p:spPr>
        <p:txBody>
          <a:bodyPr wrap="square" lIns="0" tIns="0" rIns="0" bIns="0" rtlCol="0" anchor="ctr"/>
          <a:lstStyle/>
          <a:p>
            <a:pPr algn="ctr" indent="0" marL="0">
              <a:buNone/>
            </a:pPr>
            <a:r>
              <a:rPr lang="en-US" sz="1600" b="1" dirty="0">
                <a:solidFill>
                  <a:srgbClr val="A8FF3E"/>
                </a:solidFill>
                <a:latin typeface="Calibri" pitchFamily="34" charset="0"/>
                <a:ea typeface="Calibri" pitchFamily="34" charset="-122"/>
                <a:cs typeface="Calibri" pitchFamily="34" charset="-120"/>
              </a:rPr>
              <a:t>03</a:t>
            </a:r>
            <a:endParaRPr lang="en-US" sz="1600" dirty="0"/>
          </a:p>
        </p:txBody>
      </p:sp>
      <p:sp>
        <p:nvSpPr>
          <p:cNvPr id="18" name="Text 16"/>
          <p:cNvSpPr/>
          <p:nvPr/>
        </p:nvSpPr>
        <p:spPr>
          <a:xfrm>
            <a:off x="1325880" y="4590288"/>
            <a:ext cx="9875520" cy="365760"/>
          </a:xfrm>
          <a:prstGeom prst="rect">
            <a:avLst/>
          </a:prstGeom>
          <a:noFill/>
          <a:ln/>
        </p:spPr>
        <p:txBody>
          <a:bodyPr wrap="square" lIns="0" tIns="0" rIns="0" bIns="0" rtlCol="0" anchor="ctr"/>
          <a:lstStyle/>
          <a:p>
            <a:pPr algn="l" indent="0" marL="0">
              <a:buNone/>
            </a:pPr>
            <a:r>
              <a:rPr lang="en-US" sz="1600" b="1" dirty="0">
                <a:solidFill>
                  <a:srgbClr val="E9E6DF"/>
                </a:solidFill>
                <a:latin typeface="Calibri" pitchFamily="34" charset="0"/>
                <a:ea typeface="Calibri" pitchFamily="34" charset="-122"/>
                <a:cs typeface="Calibri" pitchFamily="34" charset="-120"/>
              </a:rPr>
              <a:t>Metric standard</a:t>
            </a:r>
            <a:endParaRPr lang="en-US" sz="1600" dirty="0"/>
          </a:p>
        </p:txBody>
      </p:sp>
      <p:sp>
        <p:nvSpPr>
          <p:cNvPr id="19" name="Text 17"/>
          <p:cNvSpPr/>
          <p:nvPr/>
        </p:nvSpPr>
        <p:spPr>
          <a:xfrm>
            <a:off x="1325880" y="4983480"/>
            <a:ext cx="9875520" cy="502920"/>
          </a:xfrm>
          <a:prstGeom prst="rect">
            <a:avLst/>
          </a:prstGeom>
          <a:noFill/>
          <a:ln/>
        </p:spPr>
        <p:txBody>
          <a:bodyPr wrap="square" lIns="0" tIns="0" rIns="0" bIns="0" rtlCol="0" anchor="ctr"/>
          <a:lstStyle/>
          <a:p>
            <a:pPr algn="l" indent="0" marL="0">
              <a:buNone/>
            </a:pPr>
            <a:r>
              <a:rPr lang="en-US" sz="1300" dirty="0">
                <a:solidFill>
                  <a:srgbClr val="8A8A8A"/>
                </a:solidFill>
                <a:latin typeface="Calibri" pitchFamily="34" charset="0"/>
                <a:ea typeface="Calibri" pitchFamily="34" charset="-122"/>
                <a:cs typeface="Calibri" pitchFamily="34" charset="-120"/>
              </a:rPr>
              <a:t>Distribution accuracy = 1 − Σ|realᵢ − simᵢ| / 2.  Same formula used by peer researchers.</a:t>
            </a:r>
            <a:endParaRPr lang="en-US" sz="1300" dirty="0"/>
          </a:p>
        </p:txBody>
      </p:sp>
      <p:sp>
        <p:nvSpPr>
          <p:cNvPr id="20" name="Shape 18"/>
          <p:cNvSpPr/>
          <p:nvPr/>
        </p:nvSpPr>
        <p:spPr>
          <a:xfrm>
            <a:off x="502920" y="5989320"/>
            <a:ext cx="11155680" cy="502920"/>
          </a:xfrm>
          <a:prstGeom prst="rect">
            <a:avLst/>
          </a:prstGeom>
          <a:solidFill>
            <a:srgbClr val="0D1A00"/>
          </a:solidFill>
          <a:ln w="12700">
            <a:solidFill>
              <a:srgbClr val="A8FF3E"/>
            </a:solidFill>
            <a:prstDash val="solid"/>
          </a:ln>
        </p:spPr>
      </p:sp>
      <p:sp>
        <p:nvSpPr>
          <p:cNvPr id="21" name="Text 19"/>
          <p:cNvSpPr/>
          <p:nvPr/>
        </p:nvSpPr>
        <p:spPr>
          <a:xfrm>
            <a:off x="685800" y="6035040"/>
            <a:ext cx="10972800" cy="402336"/>
          </a:xfrm>
          <a:prstGeom prst="rect">
            <a:avLst/>
          </a:prstGeom>
          <a:noFill/>
          <a:ln/>
        </p:spPr>
        <p:txBody>
          <a:bodyPr wrap="square" lIns="0" tIns="0" rIns="0" bIns="0" rtlCol="0" anchor="ctr"/>
          <a:lstStyle/>
          <a:p>
            <a:pPr algn="l" indent="0" marL="0">
              <a:buNone/>
            </a:pPr>
            <a:r>
              <a:rPr lang="en-US" sz="1400" b="1" dirty="0">
                <a:solidFill>
                  <a:srgbClr val="A8FF3E"/>
                </a:solidFill>
                <a:latin typeface="Calibri" pitchFamily="34" charset="0"/>
                <a:ea typeface="Calibri" pitchFamily="34" charset="-122"/>
                <a:cs typeface="Calibri" pitchFamily="34" charset="-120"/>
              </a:rPr>
              <a:t>github.com/Iqbalahmed7/simulatte-credibility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0" y="0"/>
            <a:ext cx="36576" cy="6858000"/>
          </a:xfrm>
          <a:prstGeom prst="rect">
            <a:avLst/>
          </a:prstGeom>
          <a:solidFill>
            <a:srgbClr val="A8FF3E"/>
          </a:solidFill>
          <a:ln w="12700">
            <a:solidFill>
              <a:srgbClr val="A8FF3E"/>
            </a:solidFill>
            <a:prstDash val="solid"/>
          </a:ln>
        </p:spPr>
      </p:sp>
      <p:sp>
        <p:nvSpPr>
          <p:cNvPr id="3" name="Text 1"/>
          <p:cNvSpPr/>
          <p:nvPr/>
        </p:nvSpPr>
        <p:spPr>
          <a:xfrm>
            <a:off x="502920" y="1280160"/>
            <a:ext cx="10972800" cy="1005840"/>
          </a:xfrm>
          <a:prstGeom prst="rect">
            <a:avLst/>
          </a:prstGeom>
          <a:noFill/>
          <a:ln/>
        </p:spPr>
        <p:txBody>
          <a:bodyPr wrap="square" rtlCol="0" anchor="ctr"/>
          <a:lstStyle/>
          <a:p>
            <a:pPr algn="l" indent="0" marL="0">
              <a:buNone/>
            </a:pPr>
            <a:r>
              <a:rPr lang="en-US" sz="5600" b="1" dirty="0">
                <a:solidFill>
                  <a:srgbClr val="E9E6DF"/>
                </a:solidFill>
                <a:latin typeface="Calibri" pitchFamily="34" charset="0"/>
                <a:ea typeface="Calibri" pitchFamily="34" charset="-122"/>
                <a:cs typeface="Calibri" pitchFamily="34" charset="-120"/>
              </a:rPr>
              <a:t>88.7% and closing.</a:t>
            </a:r>
            <a:endParaRPr lang="en-US" sz="5600" dirty="0"/>
          </a:p>
        </p:txBody>
      </p:sp>
      <p:sp>
        <p:nvSpPr>
          <p:cNvPr id="4" name="Text 2"/>
          <p:cNvSpPr/>
          <p:nvPr/>
        </p:nvSpPr>
        <p:spPr>
          <a:xfrm>
            <a:off x="502920" y="2423160"/>
            <a:ext cx="10515600" cy="1005840"/>
          </a:xfrm>
          <a:prstGeom prst="rect">
            <a:avLst/>
          </a:prstGeom>
          <a:noFill/>
          <a:ln/>
        </p:spPr>
        <p:txBody>
          <a:bodyPr wrap="square" rtlCol="0" anchor="ctr"/>
          <a:lstStyle/>
          <a:p>
            <a:pPr algn="l" indent="0" marL="0">
              <a:buNone/>
            </a:pPr>
            <a:r>
              <a:rPr lang="en-US" sz="1600" dirty="0">
                <a:solidFill>
                  <a:srgbClr val="8A8A8A"/>
                </a:solidFill>
                <a:latin typeface="Calibri" pitchFamily="34" charset="0"/>
                <a:ea typeface="Calibri" pitchFamily="34" charset="-122"/>
                <a:cs typeface="Calibri" pitchFamily="34" charset="-120"/>
              </a:rPr>
              <a:t>Simulatte's synthetic population achieves 88.7% distribution accuracy against Pew Research Center benchmarks — 2.3 percentage points from the theoretical human consistency ceiling.</a:t>
            </a:r>
            <a:endParaRPr lang="en-US" sz="1600" dirty="0"/>
          </a:p>
        </p:txBody>
      </p:sp>
      <p:sp>
        <p:nvSpPr>
          <p:cNvPr id="5" name="Shape 3"/>
          <p:cNvSpPr/>
          <p:nvPr/>
        </p:nvSpPr>
        <p:spPr>
          <a:xfrm>
            <a:off x="502920" y="3657600"/>
            <a:ext cx="11155680" cy="822960"/>
          </a:xfrm>
          <a:prstGeom prst="rect">
            <a:avLst/>
          </a:prstGeom>
          <a:solidFill>
            <a:srgbClr val="111111"/>
          </a:solidFill>
          <a:ln w="12700">
            <a:solidFill>
              <a:srgbClr val="A8FF3E"/>
            </a:solidFill>
            <a:prstDash val="solid"/>
          </a:ln>
        </p:spPr>
      </p:sp>
      <p:sp>
        <p:nvSpPr>
          <p:cNvPr id="6" name="Shape 4"/>
          <p:cNvSpPr/>
          <p:nvPr/>
        </p:nvSpPr>
        <p:spPr>
          <a:xfrm>
            <a:off x="502920" y="3657600"/>
            <a:ext cx="54864" cy="822960"/>
          </a:xfrm>
          <a:prstGeom prst="rect">
            <a:avLst/>
          </a:prstGeom>
          <a:solidFill>
            <a:srgbClr val="A8FF3E"/>
          </a:solidFill>
          <a:ln w="12700">
            <a:solidFill>
              <a:srgbClr val="A8FF3E"/>
            </a:solidFill>
            <a:prstDash val="solid"/>
          </a:ln>
        </p:spPr>
      </p:sp>
      <p:sp>
        <p:nvSpPr>
          <p:cNvPr id="7" name="Text 5"/>
          <p:cNvSpPr/>
          <p:nvPr/>
        </p:nvSpPr>
        <p:spPr>
          <a:xfrm>
            <a:off x="685800" y="3703320"/>
            <a:ext cx="10789920" cy="731520"/>
          </a:xfrm>
          <a:prstGeom prst="rect">
            <a:avLst/>
          </a:prstGeom>
          <a:noFill/>
          <a:ln/>
        </p:spPr>
        <p:txBody>
          <a:bodyPr wrap="square" lIns="0" tIns="0" rIns="0" bIns="0" rtlCol="0" anchor="ctr"/>
          <a:lstStyle/>
          <a:p>
            <a:pPr algn="l" indent="0" marL="0">
              <a:buNone/>
            </a:pPr>
            <a:r>
              <a:rPr lang="en-US" sz="1700" b="1" dirty="0">
                <a:solidFill>
                  <a:srgbClr val="E9E6DF"/>
                </a:solidFill>
                <a:latin typeface="Calibri" pitchFamily="34" charset="0"/>
                <a:ea typeface="Calibri" pitchFamily="34" charset="-122"/>
                <a:cs typeface="Calibri" pitchFamily="34" charset="-120"/>
              </a:rPr>
              <a:t>Reach out to discuss how synthetic survey research can accelerate your work.</a:t>
            </a:r>
            <a:endParaRPr lang="en-US" sz="1700" dirty="0"/>
          </a:p>
        </p:txBody>
      </p:sp>
      <p:sp>
        <p:nvSpPr>
          <p:cNvPr id="8" name="Text 6"/>
          <p:cNvSpPr/>
          <p:nvPr/>
        </p:nvSpPr>
        <p:spPr>
          <a:xfrm>
            <a:off x="502920" y="4709160"/>
            <a:ext cx="11155680" cy="365760"/>
          </a:xfrm>
          <a:prstGeom prst="rect">
            <a:avLst/>
          </a:prstGeom>
          <a:noFill/>
          <a:ln/>
        </p:spPr>
        <p:txBody>
          <a:bodyPr wrap="square" rtlCol="0" anchor="ctr"/>
          <a:lstStyle/>
          <a:p>
            <a:pPr algn="l" indent="0" marL="0">
              <a:buNone/>
            </a:pPr>
            <a:r>
              <a:rPr lang="en-US" sz="1400" dirty="0">
                <a:solidFill>
                  <a:srgbClr val="A8FF3E"/>
                </a:solidFill>
                <a:latin typeface="Calibri" pitchFamily="34" charset="0"/>
                <a:ea typeface="Calibri" pitchFamily="34" charset="-122"/>
                <a:cs typeface="Calibri" pitchFamily="34" charset="-120"/>
              </a:rPr>
              <a:t>github.com/Iqbalahmed7/simulatte-credibility</a:t>
            </a:r>
            <a:endParaRPr lang="en-US" sz="1400" dirty="0"/>
          </a:p>
        </p:txBody>
      </p:sp>
      <p:sp>
        <p:nvSpPr>
          <p:cNvPr id="9" name="Shape 7"/>
          <p:cNvSpPr/>
          <p:nvPr/>
        </p:nvSpPr>
        <p:spPr>
          <a:xfrm>
            <a:off x="0" y="6537960"/>
            <a:ext cx="12188952" cy="320040"/>
          </a:xfrm>
          <a:prstGeom prst="rect">
            <a:avLst/>
          </a:prstGeom>
          <a:solidFill>
            <a:srgbClr val="111111"/>
          </a:solidFill>
          <a:ln w="12700">
            <a:solidFill>
              <a:srgbClr val="111111"/>
            </a:solidFill>
            <a:prstDash val="solid"/>
          </a:ln>
        </p:spPr>
      </p:sp>
      <p:sp>
        <p:nvSpPr>
          <p:cNvPr id="10" name="Text 8"/>
          <p:cNvSpPr/>
          <p:nvPr/>
        </p:nvSpPr>
        <p:spPr>
          <a:xfrm>
            <a:off x="502920" y="6547104"/>
            <a:ext cx="10972800" cy="274320"/>
          </a:xfrm>
          <a:prstGeom prst="rect">
            <a:avLst/>
          </a:prstGeom>
          <a:noFill/>
          <a:ln/>
        </p:spPr>
        <p:txBody>
          <a:bodyPr wrap="square" rtlCol="0" anchor="ctr"/>
          <a:lstStyle/>
          <a:p>
            <a:pPr algn="l" indent="0" marL="0">
              <a:buNone/>
            </a:pPr>
            <a:r>
              <a:rPr lang="en-US" sz="1000" dirty="0">
                <a:solidFill>
                  <a:srgbClr val="5E5E5E"/>
                </a:solidFill>
                <a:latin typeface="Calibri" pitchFamily="34" charset="0"/>
                <a:ea typeface="Calibri" pitchFamily="34" charset="-122"/>
                <a:cs typeface="Calibri" pitchFamily="34" charset="-120"/>
              </a:rPr>
              <a:t>Simulatte  ·  Study 1A — Sprint B-10  ·  April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Simulatte Study 1A — Sprint B-10</dc:title>
  <dc:subject>PptxGenJS Presentation</dc:subject>
  <dc:creator>Simulatte</dc:creator>
  <cp:lastModifiedBy>Simulatte</cp:lastModifiedBy>
  <cp:revision>1</cp:revision>
  <dcterms:created xsi:type="dcterms:W3CDTF">2026-04-07T03:19:17Z</dcterms:created>
  <dcterms:modified xsi:type="dcterms:W3CDTF">2026-04-07T03:19:17Z</dcterms:modified>
</cp:coreProperties>
</file>