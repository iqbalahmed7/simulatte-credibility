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0"/>
            <a:ext cx="6126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0" b="1" i="0">
                <a:solidFill>
                  <a:srgbClr val="A8FF3E"/>
                </a:solidFill>
                <a:latin typeface="Calibri"/>
              </a:rPr>
              <a:t>86.1%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61772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9E6DF"/>
                </a:solidFill>
                <a:latin typeface="Calibri"/>
              </a:rPr>
              <a:t>mean distribution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1663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9E6DF"/>
                </a:solidFill>
                <a:latin typeface="Calibri"/>
              </a:rPr>
              <a:t>Pew Research Center replication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9552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Calibri"/>
              </a:rPr>
              <a:t>Simulatte —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E6DF"/>
                </a:solidFill>
                <a:latin typeface="Calibri"/>
              </a:rPr>
              <a:t>We beat the benchmark.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94360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556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Calibri"/>
              </a:rPr>
              <a:t>Human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556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E9E6DF"/>
                </a:solidFill>
                <a:latin typeface="Calibri"/>
              </a:rPr>
              <a:t>91.0%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24912"/>
            <a:ext cx="594360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Calibri"/>
              </a:rPr>
              <a:t>Simulatte B-8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260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8FF3E"/>
                </a:solidFill>
                <a:latin typeface="Calibri"/>
              </a:rPr>
              <a:t>86.1%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95344"/>
            <a:ext cx="594360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965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9E6DF"/>
                </a:solidFill>
                <a:latin typeface="Calibri"/>
              </a:rPr>
              <a:t>Artificial Societies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09651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E9E6DF"/>
                </a:solidFill>
                <a:latin typeface="Calibri"/>
              </a:rPr>
              <a:t>86.0%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5E5E"/>
                </a:solidFill>
                <a:latin typeface="Calibri"/>
              </a:rPr>
              <a:t>AS benchmark is self-reported. Simulatte's is independently reproducible.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48690"/>
            <a:ext cx="5943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E9E6DF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7457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E5E5E"/>
                </a:solidFill>
                <a:latin typeface="Calibri"/>
              </a:rPr>
              <a:t>Pew ATP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43250"/>
            <a:ext cx="5943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E9E6DF"/>
                </a:solidFill>
                <a:latin typeface="Calibri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6913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E5E5E"/>
                </a:solidFill>
                <a:latin typeface="Calibri"/>
              </a:rPr>
              <a:t>synthetic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37810"/>
            <a:ext cx="5943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A8FF3E"/>
                </a:solidFill>
                <a:latin typeface="Calibri"/>
              </a:rPr>
              <a:t>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6369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E5E5E"/>
                </a:solidFill>
                <a:latin typeface="Calibri"/>
              </a:rPr>
              <a:t>total responses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E6DF"/>
                </a:solidFill>
                <a:latin typeface="Calibri"/>
              </a:rPr>
              <a:t>The formula.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286000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8FF3E"/>
                </a:solidFill>
                <a:latin typeface="Courier New"/>
              </a:rPr>
              <a:t>1 − Σ|real − sim|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E6DF"/>
                </a:solidFill>
                <a:latin typeface="Calibri"/>
              </a:rPr>
              <a:t>•  100% = perfect match with Pew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E6DF"/>
                </a:solidFill>
                <a:latin typeface="Calibri"/>
              </a:rPr>
              <a:t>•  Identical formula to Artificial Societies white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E5E5E"/>
                </a:solidFill>
                <a:latin typeface="Calibri"/>
              </a:rPr>
              <a:t>From baseline to benchmark.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22426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2242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67.7%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0834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B-1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0083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77.6%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79242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B-3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079242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80.5%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5765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B-5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05765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82.8%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36058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B-6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03605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84.7%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14466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B-7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601446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E6DF"/>
                </a:solidFill>
                <a:latin typeface="Calibri"/>
              </a:rPr>
              <a:t>85.3%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992874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FF3E"/>
                </a:solidFill>
                <a:latin typeface="Calibri"/>
              </a:rPr>
              <a:t>B-8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699287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FF3E"/>
                </a:solidFill>
                <a:latin typeface="Calibri"/>
              </a:rPr>
              <a:t>86.1%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7818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E5E5E"/>
                </a:solidFill>
                <a:latin typeface="Calibri"/>
              </a:rPr>
              <a:t>+18.4pp total gain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6126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A8FF3E"/>
                </a:solidFill>
                <a:latin typeface="Calibri"/>
              </a:rPr>
              <a:t>63.7%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977639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9E6DF"/>
                </a:solidFill>
                <a:latin typeface="Calibri"/>
              </a:rPr>
              <a:t>media trust — our known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E6DF"/>
                </a:solidFill>
                <a:latin typeface="Calibri"/>
              </a:rPr>
              <a:t>Simulatte: 77% trust 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94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E6DF"/>
                </a:solidFill>
                <a:latin typeface="Calibri"/>
              </a:rPr>
              <a:t>Pew reality: 40%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9552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Calibri"/>
              </a:rPr>
              <a:t>Next sprint targets this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73736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E6DF"/>
                </a:solidFill>
                <a:latin typeface="Calibri"/>
              </a:rPr>
              <a:t>Simulatte matches how real Americans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88920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E6DF"/>
                </a:solidFill>
                <a:latin typeface="Calibri"/>
              </a:rPr>
              <a:t>— at 86.1% accuracy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566160"/>
            <a:ext cx="6309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E6DF"/>
                </a:solidFill>
                <a:latin typeface="Calibri"/>
              </a:rPr>
              <a:t>across 15 political and social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4632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FF3E"/>
                </a:solidFill>
                <a:latin typeface="Calibri"/>
              </a:rPr>
              <a:t>Independently reproducible.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95527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Calibri"/>
              </a:rPr>
              <a:t>simulatte.io/research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E6DF"/>
                </a:solidFill>
                <a:latin typeface="Calibri"/>
              </a:rPr>
              <a:t>Simulate reality.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E6DF"/>
                </a:solidFill>
                <a:latin typeface="Calibri"/>
              </a:rPr>
              <a:t>Decide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FF3E"/>
                </a:solidFill>
                <a:latin typeface="Calibri"/>
              </a:rPr>
              <a:t>simulatte.io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95527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E5E5E"/>
                </a:solidFill>
                <a:latin typeface="Calibri"/>
              </a:rPr>
              <a:t>Simulatte Credibility Research Program · Study 1A · Sprint B-8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